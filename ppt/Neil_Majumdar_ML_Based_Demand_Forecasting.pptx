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4DA1C5-A2E7-41EB-9E90-5AB4C0492EE1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538446-028C-408F-974C-C57815FB5D1F}">
      <dgm:prSet phldrT="[Text]" custT="1"/>
      <dgm:spPr>
        <a:solidFill>
          <a:schemeClr val="bg1"/>
        </a:solidFill>
      </dgm:spPr>
      <dgm:t>
        <a:bodyPr/>
        <a:lstStyle/>
        <a:p>
          <a:pPr>
            <a:spcAft>
              <a:spcPts val="400"/>
            </a:spcAft>
            <a:buNone/>
          </a:pPr>
          <a:endParaRPr lang="en-IN" sz="100" b="1" dirty="0">
            <a:latin typeface="Aptos Display" panose="020B0004020202020204" pitchFamily="34" charset="0"/>
          </a:endParaRPr>
        </a:p>
        <a:p>
          <a:pPr>
            <a:spcAft>
              <a:spcPts val="400"/>
            </a:spcAft>
            <a:buNone/>
          </a:pPr>
          <a:endParaRPr lang="en-IN" sz="100" b="1" dirty="0">
            <a:latin typeface="Aptos Display" panose="020B0004020202020204" pitchFamily="34" charset="0"/>
          </a:endParaRPr>
        </a:p>
        <a:p>
          <a:pPr>
            <a:spcAft>
              <a:spcPts val="400"/>
            </a:spcAft>
            <a:buNone/>
          </a:pPr>
          <a:endParaRPr lang="en-IN" sz="100" b="1" dirty="0">
            <a:latin typeface="Aptos Display" panose="020B0004020202020204" pitchFamily="34" charset="0"/>
          </a:endParaRPr>
        </a:p>
        <a:p>
          <a:pPr>
            <a:spcAft>
              <a:spcPts val="400"/>
            </a:spcAft>
            <a:buNone/>
          </a:pPr>
          <a:br>
            <a:rPr lang="en-IN" sz="1600" b="1" dirty="0">
              <a:latin typeface="Aptos Display" panose="020B0004020202020204" pitchFamily="34" charset="0"/>
            </a:rPr>
          </a:br>
          <a:r>
            <a:rPr lang="en-IN" sz="1500" b="1" dirty="0">
              <a:latin typeface="Aptos Display" panose="020B0004020202020204" pitchFamily="34" charset="0"/>
            </a:rPr>
            <a:t>Phase 1</a:t>
          </a:r>
          <a:br>
            <a:rPr lang="en-IN" sz="1500" b="1" dirty="0">
              <a:latin typeface="Aptos Display" panose="020B0004020202020204" pitchFamily="34" charset="0"/>
            </a:rPr>
          </a:br>
          <a:r>
            <a:rPr lang="en-IN" sz="1500" b="1" dirty="0">
              <a:latin typeface="Aptos Display" panose="020B0004020202020204" pitchFamily="34" charset="0"/>
            </a:rPr>
            <a:t>Advanced </a:t>
          </a:r>
        </a:p>
        <a:p>
          <a:pPr>
            <a:spcAft>
              <a:spcPts val="400"/>
            </a:spcAft>
            <a:buNone/>
          </a:pPr>
          <a:r>
            <a:rPr lang="en-IN" sz="1500" b="1" dirty="0">
              <a:latin typeface="Aptos Display" panose="020B0004020202020204" pitchFamily="34" charset="0"/>
            </a:rPr>
            <a:t>Models</a:t>
          </a:r>
          <a:endParaRPr lang="en-US" sz="1500" dirty="0">
            <a:latin typeface="Aptos Display" panose="020B0004020202020204" pitchFamily="34" charset="0"/>
          </a:endParaRPr>
        </a:p>
      </dgm:t>
    </dgm:pt>
    <dgm:pt modelId="{6C5BFC71-0988-4292-B2ED-F019C41840E6}" type="parTrans" cxnId="{08E57DD8-CFA0-4059-AFC2-FA934D0B65CB}">
      <dgm:prSet/>
      <dgm:spPr/>
      <dgm:t>
        <a:bodyPr/>
        <a:lstStyle/>
        <a:p>
          <a:endParaRPr lang="en-US"/>
        </a:p>
      </dgm:t>
    </dgm:pt>
    <dgm:pt modelId="{347A01FD-5D8B-4C0E-8352-0E0263B8A7F0}" type="sibTrans" cxnId="{08E57DD8-CFA0-4059-AFC2-FA934D0B65CB}">
      <dgm:prSet/>
      <dgm:spPr/>
      <dgm:t>
        <a:bodyPr/>
        <a:lstStyle/>
        <a:p>
          <a:endParaRPr lang="en-US"/>
        </a:p>
      </dgm:t>
    </dgm:pt>
    <dgm:pt modelId="{AB52A8E3-EDE7-499D-A93F-448CD285CDF3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1800" b="1" dirty="0">
              <a:latin typeface="Aptos Display" panose="020B0004020202020204" pitchFamily="34" charset="0"/>
            </a:rPr>
            <a:t>Phase 2</a:t>
          </a:r>
          <a:br>
            <a:rPr lang="en-US" sz="1800" b="1" dirty="0">
              <a:latin typeface="Aptos Display" panose="020B0004020202020204" pitchFamily="34" charset="0"/>
            </a:rPr>
          </a:br>
          <a:r>
            <a:rPr lang="en-IN" sz="1800" b="1" dirty="0">
              <a:latin typeface="Aptos Display" panose="020B0004020202020204" pitchFamily="34" charset="0"/>
            </a:rPr>
            <a:t>Seasonal Intelligence</a:t>
          </a:r>
          <a:endParaRPr lang="en-US" sz="1800" b="1" dirty="0">
            <a:latin typeface="Aptos Display" panose="020B0004020202020204" pitchFamily="34" charset="0"/>
          </a:endParaRPr>
        </a:p>
      </dgm:t>
    </dgm:pt>
    <dgm:pt modelId="{C69C5C55-9D4A-426F-848D-C43BDF20A7FF}" type="parTrans" cxnId="{2959642E-1604-4D7D-AAFE-89F4586E8436}">
      <dgm:prSet/>
      <dgm:spPr/>
      <dgm:t>
        <a:bodyPr/>
        <a:lstStyle/>
        <a:p>
          <a:endParaRPr lang="en-US"/>
        </a:p>
      </dgm:t>
    </dgm:pt>
    <dgm:pt modelId="{CF6B9EBC-110D-431D-94DD-3C32F8688EEC}" type="sibTrans" cxnId="{2959642E-1604-4D7D-AAFE-89F4586E8436}">
      <dgm:prSet/>
      <dgm:spPr/>
      <dgm:t>
        <a:bodyPr/>
        <a:lstStyle/>
        <a:p>
          <a:endParaRPr lang="en-US"/>
        </a:p>
      </dgm:t>
    </dgm:pt>
    <dgm:pt modelId="{97E0A998-BD6B-4798-9D44-BC6D167CCF3C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2100" b="1" dirty="0">
              <a:latin typeface="Aptos Display" panose="020B0004020202020204" pitchFamily="34" charset="0"/>
            </a:rPr>
            <a:t>Phase 3</a:t>
          </a:r>
          <a:br>
            <a:rPr lang="en-US" sz="2100" b="1" dirty="0">
              <a:latin typeface="Aptos Display" panose="020B0004020202020204" pitchFamily="34" charset="0"/>
            </a:rPr>
          </a:br>
          <a:r>
            <a:rPr lang="en-IN" sz="2100" b="1" dirty="0">
              <a:latin typeface="Aptos Display" panose="020B0004020202020204" pitchFamily="34" charset="0"/>
            </a:rPr>
            <a:t>Real-Time Integration</a:t>
          </a:r>
          <a:endParaRPr lang="en-US" sz="2100" b="1" dirty="0">
            <a:latin typeface="Aptos Display" panose="020B0004020202020204" pitchFamily="34" charset="0"/>
          </a:endParaRPr>
        </a:p>
      </dgm:t>
    </dgm:pt>
    <dgm:pt modelId="{2F0D4DFA-F9D3-415E-AC59-0D066BA5A661}" type="parTrans" cxnId="{81D7C214-3B96-47D3-B861-03D317BD4C17}">
      <dgm:prSet/>
      <dgm:spPr/>
      <dgm:t>
        <a:bodyPr/>
        <a:lstStyle/>
        <a:p>
          <a:endParaRPr lang="en-US"/>
        </a:p>
      </dgm:t>
    </dgm:pt>
    <dgm:pt modelId="{D29E465B-24AF-4060-A44D-967534A04711}" type="sibTrans" cxnId="{81D7C214-3B96-47D3-B861-03D317BD4C17}">
      <dgm:prSet/>
      <dgm:spPr/>
      <dgm:t>
        <a:bodyPr/>
        <a:lstStyle/>
        <a:p>
          <a:endParaRPr lang="en-US"/>
        </a:p>
      </dgm:t>
    </dgm:pt>
    <dgm:pt modelId="{FE1A15DD-BFE0-46A9-8285-17BF5C8563C4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2400" b="1" dirty="0">
              <a:latin typeface="Aptos Display" panose="020B0004020202020204" pitchFamily="34" charset="0"/>
            </a:rPr>
            <a:t>Phase 4</a:t>
          </a:r>
          <a:br>
            <a:rPr lang="en-US" sz="2400" b="1" dirty="0">
              <a:latin typeface="Aptos Display" panose="020B0004020202020204" pitchFamily="34" charset="0"/>
            </a:rPr>
          </a:br>
          <a:r>
            <a:rPr lang="en-IN" sz="2400" b="1" dirty="0">
              <a:latin typeface="Aptos Display" panose="020B0004020202020204" pitchFamily="34" charset="0"/>
            </a:rPr>
            <a:t>Business Intelligence</a:t>
          </a:r>
          <a:endParaRPr lang="en-US" sz="2400" b="1" dirty="0">
            <a:latin typeface="Aptos Display" panose="020B0004020202020204" pitchFamily="34" charset="0"/>
          </a:endParaRPr>
        </a:p>
      </dgm:t>
    </dgm:pt>
    <dgm:pt modelId="{317F8785-30F5-4739-A32D-4B3FFF823E76}" type="parTrans" cxnId="{95D0FF12-3A2E-4B56-BF62-EDE2B7759765}">
      <dgm:prSet/>
      <dgm:spPr/>
      <dgm:t>
        <a:bodyPr/>
        <a:lstStyle/>
        <a:p>
          <a:endParaRPr lang="en-US"/>
        </a:p>
      </dgm:t>
    </dgm:pt>
    <dgm:pt modelId="{87AB607F-9F63-4679-A4C1-FD5EDA4F2C8D}" type="sibTrans" cxnId="{95D0FF12-3A2E-4B56-BF62-EDE2B7759765}">
      <dgm:prSet/>
      <dgm:spPr/>
      <dgm:t>
        <a:bodyPr/>
        <a:lstStyle/>
        <a:p>
          <a:endParaRPr lang="en-US"/>
        </a:p>
      </dgm:t>
    </dgm:pt>
    <dgm:pt modelId="{133D681F-C6DC-4935-A1A3-46A78AED28B5}" type="pres">
      <dgm:prSet presAssocID="{DE4DA1C5-A2E7-41EB-9E90-5AB4C0492EE1}" presName="Name0" presStyleCnt="0">
        <dgm:presLayoutVars>
          <dgm:dir/>
          <dgm:animLvl val="lvl"/>
          <dgm:resizeHandles val="exact"/>
        </dgm:presLayoutVars>
      </dgm:prSet>
      <dgm:spPr/>
    </dgm:pt>
    <dgm:pt modelId="{ACD4F742-5D5C-47FA-BCD6-716F6211A002}" type="pres">
      <dgm:prSet presAssocID="{05538446-028C-408F-974C-C57815FB5D1F}" presName="Name8" presStyleCnt="0"/>
      <dgm:spPr/>
    </dgm:pt>
    <dgm:pt modelId="{DA75D225-06C7-440D-9C4C-8F3506B387C1}" type="pres">
      <dgm:prSet presAssocID="{05538446-028C-408F-974C-C57815FB5D1F}" presName="level" presStyleLbl="node1" presStyleIdx="0" presStyleCnt="4" custLinFactNeighborX="0" custLinFactNeighborY="-1266">
        <dgm:presLayoutVars>
          <dgm:chMax val="1"/>
          <dgm:bulletEnabled val="1"/>
        </dgm:presLayoutVars>
      </dgm:prSet>
      <dgm:spPr/>
    </dgm:pt>
    <dgm:pt modelId="{40A95BDB-8AFC-4BAB-B63D-91FCFAAAE9B5}" type="pres">
      <dgm:prSet presAssocID="{05538446-028C-408F-974C-C57815FB5D1F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C38D5CC4-E993-470B-AF0B-77FED46C8F22}" type="pres">
      <dgm:prSet presAssocID="{AB52A8E3-EDE7-499D-A93F-448CD285CDF3}" presName="Name8" presStyleCnt="0"/>
      <dgm:spPr/>
    </dgm:pt>
    <dgm:pt modelId="{4ED7D6A0-C52B-4876-B116-338D7005413E}" type="pres">
      <dgm:prSet presAssocID="{AB52A8E3-EDE7-499D-A93F-448CD285CDF3}" presName="level" presStyleLbl="node1" presStyleIdx="1" presStyleCnt="4">
        <dgm:presLayoutVars>
          <dgm:chMax val="1"/>
          <dgm:bulletEnabled val="1"/>
        </dgm:presLayoutVars>
      </dgm:prSet>
      <dgm:spPr/>
    </dgm:pt>
    <dgm:pt modelId="{3582A504-6F94-4E0F-A9B0-DE95511F4103}" type="pres">
      <dgm:prSet presAssocID="{AB52A8E3-EDE7-499D-A93F-448CD285CDF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AD97E09-EB33-4348-B3CC-C678285D07C8}" type="pres">
      <dgm:prSet presAssocID="{97E0A998-BD6B-4798-9D44-BC6D167CCF3C}" presName="Name8" presStyleCnt="0"/>
      <dgm:spPr/>
    </dgm:pt>
    <dgm:pt modelId="{512B4292-D589-4559-96EF-2537F4C6FFFA}" type="pres">
      <dgm:prSet presAssocID="{97E0A998-BD6B-4798-9D44-BC6D167CCF3C}" presName="level" presStyleLbl="node1" presStyleIdx="2" presStyleCnt="4">
        <dgm:presLayoutVars>
          <dgm:chMax val="1"/>
          <dgm:bulletEnabled val="1"/>
        </dgm:presLayoutVars>
      </dgm:prSet>
      <dgm:spPr/>
    </dgm:pt>
    <dgm:pt modelId="{3C6A6072-D203-4403-8503-229E57462D73}" type="pres">
      <dgm:prSet presAssocID="{97E0A998-BD6B-4798-9D44-BC6D167CCF3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92901F3-9538-4CFC-B7BA-A855D757B02C}" type="pres">
      <dgm:prSet presAssocID="{FE1A15DD-BFE0-46A9-8285-17BF5C8563C4}" presName="Name8" presStyleCnt="0"/>
      <dgm:spPr/>
    </dgm:pt>
    <dgm:pt modelId="{CB2DB452-A7E3-42C1-AB66-1FFC42AC79D0}" type="pres">
      <dgm:prSet presAssocID="{FE1A15DD-BFE0-46A9-8285-17BF5C8563C4}" presName="level" presStyleLbl="node1" presStyleIdx="3" presStyleCnt="4" custLinFactNeighborY="802">
        <dgm:presLayoutVars>
          <dgm:chMax val="1"/>
          <dgm:bulletEnabled val="1"/>
        </dgm:presLayoutVars>
      </dgm:prSet>
      <dgm:spPr/>
    </dgm:pt>
    <dgm:pt modelId="{4004BB85-732B-45E9-9C66-958135FA26C9}" type="pres">
      <dgm:prSet presAssocID="{FE1A15DD-BFE0-46A9-8285-17BF5C8563C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AC984602-2206-4791-B0F3-D5A1D42A07E0}" type="presOf" srcId="{FE1A15DD-BFE0-46A9-8285-17BF5C8563C4}" destId="{4004BB85-732B-45E9-9C66-958135FA26C9}" srcOrd="1" destOrd="0" presId="urn:microsoft.com/office/officeart/2005/8/layout/pyramid1"/>
    <dgm:cxn modelId="{95D0FF12-3A2E-4B56-BF62-EDE2B7759765}" srcId="{DE4DA1C5-A2E7-41EB-9E90-5AB4C0492EE1}" destId="{FE1A15DD-BFE0-46A9-8285-17BF5C8563C4}" srcOrd="3" destOrd="0" parTransId="{317F8785-30F5-4739-A32D-4B3FFF823E76}" sibTransId="{87AB607F-9F63-4679-A4C1-FD5EDA4F2C8D}"/>
    <dgm:cxn modelId="{81D7C214-3B96-47D3-B861-03D317BD4C17}" srcId="{DE4DA1C5-A2E7-41EB-9E90-5AB4C0492EE1}" destId="{97E0A998-BD6B-4798-9D44-BC6D167CCF3C}" srcOrd="2" destOrd="0" parTransId="{2F0D4DFA-F9D3-415E-AC59-0D066BA5A661}" sibTransId="{D29E465B-24AF-4060-A44D-967534A04711}"/>
    <dgm:cxn modelId="{4474AE24-9E2F-4EE0-ABE8-E46715B20D23}" type="presOf" srcId="{AB52A8E3-EDE7-499D-A93F-448CD285CDF3}" destId="{3582A504-6F94-4E0F-A9B0-DE95511F4103}" srcOrd="1" destOrd="0" presId="urn:microsoft.com/office/officeart/2005/8/layout/pyramid1"/>
    <dgm:cxn modelId="{805B3C2B-8D71-4F03-A9C4-C14B3CC0FD50}" type="presOf" srcId="{97E0A998-BD6B-4798-9D44-BC6D167CCF3C}" destId="{512B4292-D589-4559-96EF-2537F4C6FFFA}" srcOrd="0" destOrd="0" presId="urn:microsoft.com/office/officeart/2005/8/layout/pyramid1"/>
    <dgm:cxn modelId="{2959642E-1604-4D7D-AAFE-89F4586E8436}" srcId="{DE4DA1C5-A2E7-41EB-9E90-5AB4C0492EE1}" destId="{AB52A8E3-EDE7-499D-A93F-448CD285CDF3}" srcOrd="1" destOrd="0" parTransId="{C69C5C55-9D4A-426F-848D-C43BDF20A7FF}" sibTransId="{CF6B9EBC-110D-431D-94DD-3C32F8688EEC}"/>
    <dgm:cxn modelId="{5144586C-A196-4244-AB2B-517EC5D31457}" type="presOf" srcId="{DE4DA1C5-A2E7-41EB-9E90-5AB4C0492EE1}" destId="{133D681F-C6DC-4935-A1A3-46A78AED28B5}" srcOrd="0" destOrd="0" presId="urn:microsoft.com/office/officeart/2005/8/layout/pyramid1"/>
    <dgm:cxn modelId="{3ACA644E-7916-4EEB-B1BC-B7B5D1B0DB39}" type="presOf" srcId="{05538446-028C-408F-974C-C57815FB5D1F}" destId="{40A95BDB-8AFC-4BAB-B63D-91FCFAAAE9B5}" srcOrd="1" destOrd="0" presId="urn:microsoft.com/office/officeart/2005/8/layout/pyramid1"/>
    <dgm:cxn modelId="{45283C4F-DDB0-4E73-87C4-D34E65EF564C}" type="presOf" srcId="{97E0A998-BD6B-4798-9D44-BC6D167CCF3C}" destId="{3C6A6072-D203-4403-8503-229E57462D73}" srcOrd="1" destOrd="0" presId="urn:microsoft.com/office/officeart/2005/8/layout/pyramid1"/>
    <dgm:cxn modelId="{AA715774-5CC7-4D3D-8213-6A4D280E8142}" type="presOf" srcId="{05538446-028C-408F-974C-C57815FB5D1F}" destId="{DA75D225-06C7-440D-9C4C-8F3506B387C1}" srcOrd="0" destOrd="0" presId="urn:microsoft.com/office/officeart/2005/8/layout/pyramid1"/>
    <dgm:cxn modelId="{3E190FBD-0DBB-4C97-AD64-D468AF03F474}" type="presOf" srcId="{AB52A8E3-EDE7-499D-A93F-448CD285CDF3}" destId="{4ED7D6A0-C52B-4876-B116-338D7005413E}" srcOrd="0" destOrd="0" presId="urn:microsoft.com/office/officeart/2005/8/layout/pyramid1"/>
    <dgm:cxn modelId="{65EDE9D7-FE5D-44D5-9D3A-B94DD8FA171B}" type="presOf" srcId="{FE1A15DD-BFE0-46A9-8285-17BF5C8563C4}" destId="{CB2DB452-A7E3-42C1-AB66-1FFC42AC79D0}" srcOrd="0" destOrd="0" presId="urn:microsoft.com/office/officeart/2005/8/layout/pyramid1"/>
    <dgm:cxn modelId="{08E57DD8-CFA0-4059-AFC2-FA934D0B65CB}" srcId="{DE4DA1C5-A2E7-41EB-9E90-5AB4C0492EE1}" destId="{05538446-028C-408F-974C-C57815FB5D1F}" srcOrd="0" destOrd="0" parTransId="{6C5BFC71-0988-4292-B2ED-F019C41840E6}" sibTransId="{347A01FD-5D8B-4C0E-8352-0E0263B8A7F0}"/>
    <dgm:cxn modelId="{2975304B-C1D9-4A9F-8D5B-EAD6BC3BFB49}" type="presParOf" srcId="{133D681F-C6DC-4935-A1A3-46A78AED28B5}" destId="{ACD4F742-5D5C-47FA-BCD6-716F6211A002}" srcOrd="0" destOrd="0" presId="urn:microsoft.com/office/officeart/2005/8/layout/pyramid1"/>
    <dgm:cxn modelId="{3B5684E7-07DF-4929-A83B-318E30255F2F}" type="presParOf" srcId="{ACD4F742-5D5C-47FA-BCD6-716F6211A002}" destId="{DA75D225-06C7-440D-9C4C-8F3506B387C1}" srcOrd="0" destOrd="0" presId="urn:microsoft.com/office/officeart/2005/8/layout/pyramid1"/>
    <dgm:cxn modelId="{BED14BE4-35EB-4991-A026-724C385A1CB1}" type="presParOf" srcId="{ACD4F742-5D5C-47FA-BCD6-716F6211A002}" destId="{40A95BDB-8AFC-4BAB-B63D-91FCFAAAE9B5}" srcOrd="1" destOrd="0" presId="urn:microsoft.com/office/officeart/2005/8/layout/pyramid1"/>
    <dgm:cxn modelId="{C66F0A1F-C7CF-4D3C-A283-240FEB5E9CFB}" type="presParOf" srcId="{133D681F-C6DC-4935-A1A3-46A78AED28B5}" destId="{C38D5CC4-E993-470B-AF0B-77FED46C8F22}" srcOrd="1" destOrd="0" presId="urn:microsoft.com/office/officeart/2005/8/layout/pyramid1"/>
    <dgm:cxn modelId="{FDB495A7-D5C8-416E-8A72-E55FC60F4070}" type="presParOf" srcId="{C38D5CC4-E993-470B-AF0B-77FED46C8F22}" destId="{4ED7D6A0-C52B-4876-B116-338D7005413E}" srcOrd="0" destOrd="0" presId="urn:microsoft.com/office/officeart/2005/8/layout/pyramid1"/>
    <dgm:cxn modelId="{FAA71A0D-B235-4168-AEFF-E76AD487D285}" type="presParOf" srcId="{C38D5CC4-E993-470B-AF0B-77FED46C8F22}" destId="{3582A504-6F94-4E0F-A9B0-DE95511F4103}" srcOrd="1" destOrd="0" presId="urn:microsoft.com/office/officeart/2005/8/layout/pyramid1"/>
    <dgm:cxn modelId="{18D2466A-435F-4172-B227-69635F0750F5}" type="presParOf" srcId="{133D681F-C6DC-4935-A1A3-46A78AED28B5}" destId="{AAD97E09-EB33-4348-B3CC-C678285D07C8}" srcOrd="2" destOrd="0" presId="urn:microsoft.com/office/officeart/2005/8/layout/pyramid1"/>
    <dgm:cxn modelId="{18984D11-26F6-4B6F-AD4A-347B03AC8BC1}" type="presParOf" srcId="{AAD97E09-EB33-4348-B3CC-C678285D07C8}" destId="{512B4292-D589-4559-96EF-2537F4C6FFFA}" srcOrd="0" destOrd="0" presId="urn:microsoft.com/office/officeart/2005/8/layout/pyramid1"/>
    <dgm:cxn modelId="{4C11682D-0E24-473A-BA09-9B0E5ED3C0B9}" type="presParOf" srcId="{AAD97E09-EB33-4348-B3CC-C678285D07C8}" destId="{3C6A6072-D203-4403-8503-229E57462D73}" srcOrd="1" destOrd="0" presId="urn:microsoft.com/office/officeart/2005/8/layout/pyramid1"/>
    <dgm:cxn modelId="{FDD365D4-97FA-4DAE-91DA-FEDF26D29876}" type="presParOf" srcId="{133D681F-C6DC-4935-A1A3-46A78AED28B5}" destId="{692901F3-9538-4CFC-B7BA-A855D757B02C}" srcOrd="3" destOrd="0" presId="urn:microsoft.com/office/officeart/2005/8/layout/pyramid1"/>
    <dgm:cxn modelId="{CD3028D5-8055-479E-9F6D-90644C5BA357}" type="presParOf" srcId="{692901F3-9538-4CFC-B7BA-A855D757B02C}" destId="{CB2DB452-A7E3-42C1-AB66-1FFC42AC79D0}" srcOrd="0" destOrd="0" presId="urn:microsoft.com/office/officeart/2005/8/layout/pyramid1"/>
    <dgm:cxn modelId="{CC4A22AB-FDFB-4B35-BFE2-DE01AB3E1449}" type="presParOf" srcId="{692901F3-9538-4CFC-B7BA-A855D757B02C}" destId="{4004BB85-732B-45E9-9C66-958135FA26C9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75D225-06C7-440D-9C4C-8F3506B387C1}">
      <dsp:nvSpPr>
        <dsp:cNvPr id="0" name=""/>
        <dsp:cNvSpPr/>
      </dsp:nvSpPr>
      <dsp:spPr>
        <a:xfrm>
          <a:off x="3050266" y="0"/>
          <a:ext cx="2033510" cy="1226267"/>
        </a:xfrm>
        <a:prstGeom prst="trapezoid">
          <a:avLst>
            <a:gd name="adj" fmla="val 82915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" tIns="1270" rIns="1270" bIns="1270" numCol="1" spcCol="1270" anchor="ctr" anchorCtr="0">
          <a:noAutofit/>
        </a:bodyPr>
        <a:lstStyle/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ts val="400"/>
            </a:spcAft>
            <a:buNone/>
          </a:pPr>
          <a:endParaRPr lang="en-IN" sz="100" b="1" kern="1200" dirty="0">
            <a:latin typeface="Aptos Display" panose="020B0004020202020204" pitchFamily="34" charset="0"/>
          </a:endParaRPr>
        </a:p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ts val="400"/>
            </a:spcAft>
            <a:buNone/>
          </a:pPr>
          <a:endParaRPr lang="en-IN" sz="100" b="1" kern="1200" dirty="0">
            <a:latin typeface="Aptos Display" panose="020B0004020202020204" pitchFamily="34" charset="0"/>
          </a:endParaRPr>
        </a:p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ts val="400"/>
            </a:spcAft>
            <a:buNone/>
          </a:pPr>
          <a:endParaRPr lang="en-IN" sz="100" b="1" kern="1200" dirty="0">
            <a:latin typeface="Aptos Display" panose="020B0004020202020204" pitchFamily="34" charset="0"/>
          </a:endParaRPr>
        </a:p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ts val="400"/>
            </a:spcAft>
            <a:buNone/>
          </a:pPr>
          <a:br>
            <a:rPr lang="en-IN" sz="1600" b="1" kern="1200" dirty="0">
              <a:latin typeface="Aptos Display" panose="020B0004020202020204" pitchFamily="34" charset="0"/>
            </a:rPr>
          </a:br>
          <a:r>
            <a:rPr lang="en-IN" sz="1500" b="1" kern="1200" dirty="0">
              <a:latin typeface="Aptos Display" panose="020B0004020202020204" pitchFamily="34" charset="0"/>
            </a:rPr>
            <a:t>Phase 1</a:t>
          </a:r>
          <a:br>
            <a:rPr lang="en-IN" sz="1500" b="1" kern="1200" dirty="0">
              <a:latin typeface="Aptos Display" panose="020B0004020202020204" pitchFamily="34" charset="0"/>
            </a:rPr>
          </a:br>
          <a:r>
            <a:rPr lang="en-IN" sz="1500" b="1" kern="1200" dirty="0">
              <a:latin typeface="Aptos Display" panose="020B0004020202020204" pitchFamily="34" charset="0"/>
            </a:rPr>
            <a:t>Advanced </a:t>
          </a:r>
        </a:p>
        <a:p>
          <a:pPr marL="0" lvl="0" indent="0" algn="ctr" defTabSz="44450">
            <a:lnSpc>
              <a:spcPct val="90000"/>
            </a:lnSpc>
            <a:spcBef>
              <a:spcPct val="0"/>
            </a:spcBef>
            <a:spcAft>
              <a:spcPts val="400"/>
            </a:spcAft>
            <a:buNone/>
          </a:pPr>
          <a:r>
            <a:rPr lang="en-IN" sz="1500" b="1" kern="1200" dirty="0">
              <a:latin typeface="Aptos Display" panose="020B0004020202020204" pitchFamily="34" charset="0"/>
            </a:rPr>
            <a:t>Models</a:t>
          </a:r>
          <a:endParaRPr lang="en-US" sz="1500" kern="1200" dirty="0">
            <a:latin typeface="Aptos Display" panose="020B0004020202020204" pitchFamily="34" charset="0"/>
          </a:endParaRPr>
        </a:p>
      </dsp:txBody>
      <dsp:txXfrm>
        <a:off x="3050266" y="0"/>
        <a:ext cx="2033510" cy="1226267"/>
      </dsp:txXfrm>
    </dsp:sp>
    <dsp:sp modelId="{4ED7D6A0-C52B-4876-B116-338D7005413E}">
      <dsp:nvSpPr>
        <dsp:cNvPr id="0" name=""/>
        <dsp:cNvSpPr/>
      </dsp:nvSpPr>
      <dsp:spPr>
        <a:xfrm>
          <a:off x="2033510" y="1226267"/>
          <a:ext cx="4067021" cy="1226267"/>
        </a:xfrm>
        <a:prstGeom prst="trapezoid">
          <a:avLst>
            <a:gd name="adj" fmla="val 82915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ptos Display" panose="020B0004020202020204" pitchFamily="34" charset="0"/>
            </a:rPr>
            <a:t>Phase 2</a:t>
          </a:r>
          <a:br>
            <a:rPr lang="en-US" sz="1800" b="1" kern="1200" dirty="0">
              <a:latin typeface="Aptos Display" panose="020B0004020202020204" pitchFamily="34" charset="0"/>
            </a:rPr>
          </a:br>
          <a:r>
            <a:rPr lang="en-IN" sz="1800" b="1" kern="1200" dirty="0">
              <a:latin typeface="Aptos Display" panose="020B0004020202020204" pitchFamily="34" charset="0"/>
            </a:rPr>
            <a:t>Seasonal Intelligence</a:t>
          </a:r>
          <a:endParaRPr lang="en-US" sz="1800" b="1" kern="1200" dirty="0">
            <a:latin typeface="Aptos Display" panose="020B0004020202020204" pitchFamily="34" charset="0"/>
          </a:endParaRPr>
        </a:p>
      </dsp:txBody>
      <dsp:txXfrm>
        <a:off x="2745239" y="1226267"/>
        <a:ext cx="2643563" cy="1226267"/>
      </dsp:txXfrm>
    </dsp:sp>
    <dsp:sp modelId="{512B4292-D589-4559-96EF-2537F4C6FFFA}">
      <dsp:nvSpPr>
        <dsp:cNvPr id="0" name=""/>
        <dsp:cNvSpPr/>
      </dsp:nvSpPr>
      <dsp:spPr>
        <a:xfrm>
          <a:off x="1016755" y="2452534"/>
          <a:ext cx="6100532" cy="1226267"/>
        </a:xfrm>
        <a:prstGeom prst="trapezoid">
          <a:avLst>
            <a:gd name="adj" fmla="val 82915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Aptos Display" panose="020B0004020202020204" pitchFamily="34" charset="0"/>
            </a:rPr>
            <a:t>Phase 3</a:t>
          </a:r>
          <a:br>
            <a:rPr lang="en-US" sz="2100" b="1" kern="1200" dirty="0">
              <a:latin typeface="Aptos Display" panose="020B0004020202020204" pitchFamily="34" charset="0"/>
            </a:rPr>
          </a:br>
          <a:r>
            <a:rPr lang="en-IN" sz="2100" b="1" kern="1200" dirty="0">
              <a:latin typeface="Aptos Display" panose="020B0004020202020204" pitchFamily="34" charset="0"/>
            </a:rPr>
            <a:t>Real-Time Integration</a:t>
          </a:r>
          <a:endParaRPr lang="en-US" sz="2100" b="1" kern="1200" dirty="0">
            <a:latin typeface="Aptos Display" panose="020B0004020202020204" pitchFamily="34" charset="0"/>
          </a:endParaRPr>
        </a:p>
      </dsp:txBody>
      <dsp:txXfrm>
        <a:off x="2084348" y="2452534"/>
        <a:ext cx="3965345" cy="1226267"/>
      </dsp:txXfrm>
    </dsp:sp>
    <dsp:sp modelId="{CB2DB452-A7E3-42C1-AB66-1FFC42AC79D0}">
      <dsp:nvSpPr>
        <dsp:cNvPr id="0" name=""/>
        <dsp:cNvSpPr/>
      </dsp:nvSpPr>
      <dsp:spPr>
        <a:xfrm>
          <a:off x="0" y="3678801"/>
          <a:ext cx="8134043" cy="1226267"/>
        </a:xfrm>
        <a:prstGeom prst="trapezoid">
          <a:avLst>
            <a:gd name="adj" fmla="val 82915"/>
          </a:avLst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ptos Display" panose="020B0004020202020204" pitchFamily="34" charset="0"/>
            </a:rPr>
            <a:t>Phase 4</a:t>
          </a:r>
          <a:br>
            <a:rPr lang="en-US" sz="2400" b="1" kern="1200" dirty="0">
              <a:latin typeface="Aptos Display" panose="020B0004020202020204" pitchFamily="34" charset="0"/>
            </a:rPr>
          </a:br>
          <a:r>
            <a:rPr lang="en-IN" sz="2400" b="1" kern="1200" dirty="0">
              <a:latin typeface="Aptos Display" panose="020B0004020202020204" pitchFamily="34" charset="0"/>
            </a:rPr>
            <a:t>Business Intelligence</a:t>
          </a:r>
          <a:endParaRPr lang="en-US" sz="2400" b="1" kern="1200" dirty="0">
            <a:latin typeface="Aptos Display" panose="020B0004020202020204" pitchFamily="34" charset="0"/>
          </a:endParaRPr>
        </a:p>
      </dsp:txBody>
      <dsp:txXfrm>
        <a:off x="1423457" y="3678801"/>
        <a:ext cx="5287127" cy="12262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49A2BA-282F-4E3B-B055-4E1CAE40BC9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071AB-4B83-4694-9553-5E7DFC1006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948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071AB-4B83-4694-9553-5E7DFC1006D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22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684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26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066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205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235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61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512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534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15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370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000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5AEB7-8C39-4B28-BF54-28070F3D4FCA}" type="datetimeFigureOut">
              <a:rPr lang="en-IN" smtClean="0"/>
              <a:t>17-06-2026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0556F-54D8-4770-84AD-C8D5CD2224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3577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4A3C9-7C79-E685-48B7-BD537B8E2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0980" y="1769806"/>
            <a:ext cx="8790039" cy="133718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latin typeface="Aptos Display" panose="020B0004020202020204" pitchFamily="34" charset="0"/>
              </a:rPr>
              <a:t>ML Based Demand Forecasting</a:t>
            </a:r>
            <a:br>
              <a:rPr lang="en-US" sz="4400" b="1" dirty="0">
                <a:latin typeface="Aptos Display" panose="020B0004020202020204" pitchFamily="34" charset="0"/>
              </a:rPr>
            </a:br>
            <a:r>
              <a:rPr lang="en-US" sz="4400" b="1" dirty="0">
                <a:latin typeface="Aptos Display" panose="020B0004020202020204" pitchFamily="34" charset="0"/>
              </a:rPr>
              <a:t>A </a:t>
            </a:r>
            <a:r>
              <a:rPr lang="en-IN" sz="4400" b="1" dirty="0">
                <a:latin typeface="Aptos Display" panose="020B0004020202020204" pitchFamily="34" charset="0"/>
              </a:rPr>
              <a:t>Summer Internship Project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A04757-1D18-6EBA-D517-F34CB3AD4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3549445"/>
            <a:ext cx="9144000" cy="1156775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800" dirty="0">
                <a:solidFill>
                  <a:srgbClr val="DCDCDC"/>
                </a:solidFill>
                <a:latin typeface="Aptos" panose="020B0004020202020204" pitchFamily="34" charset="0"/>
              </a:rPr>
              <a:t>Presented By: </a:t>
            </a:r>
            <a:r>
              <a:rPr lang="en-US" sz="1800" b="1" dirty="0">
                <a:solidFill>
                  <a:srgbClr val="DCDCDC"/>
                </a:solidFill>
                <a:latin typeface="Aptos" panose="020B0004020202020204" pitchFamily="34" charset="0"/>
              </a:rPr>
              <a:t>Neil Majumdar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800" dirty="0">
                <a:solidFill>
                  <a:srgbClr val="DCDCDC"/>
                </a:solidFill>
                <a:latin typeface="Aptos" panose="020B0004020202020204" pitchFamily="34" charset="0"/>
              </a:rPr>
              <a:t>Internship Organization: Jadson Technologies Pvt. Ltd.</a:t>
            </a: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sz="1800" dirty="0">
                <a:solidFill>
                  <a:srgbClr val="DCDCDC"/>
                </a:solidFill>
                <a:latin typeface="Aptos" panose="020B0004020202020204" pitchFamily="34" charset="0"/>
              </a:rPr>
              <a:t>Internship Duration: May 25</a:t>
            </a:r>
            <a:r>
              <a:rPr lang="en-US" sz="1800" baseline="30000" dirty="0">
                <a:solidFill>
                  <a:srgbClr val="DCDCDC"/>
                </a:solidFill>
                <a:latin typeface="Aptos" panose="020B0004020202020204" pitchFamily="34" charset="0"/>
              </a:rPr>
              <a:t>th</a:t>
            </a:r>
            <a:r>
              <a:rPr lang="en-US" sz="1800" dirty="0">
                <a:solidFill>
                  <a:srgbClr val="DCDCDC"/>
                </a:solidFill>
                <a:latin typeface="Aptos" panose="020B0004020202020204" pitchFamily="34" charset="0"/>
              </a:rPr>
              <a:t>, 2026 to June 24</a:t>
            </a:r>
            <a:r>
              <a:rPr lang="en-US" sz="1800" baseline="30000" dirty="0">
                <a:solidFill>
                  <a:srgbClr val="DCDCDC"/>
                </a:solidFill>
                <a:latin typeface="Aptos" panose="020B0004020202020204" pitchFamily="34" charset="0"/>
              </a:rPr>
              <a:t>th</a:t>
            </a:r>
            <a:r>
              <a:rPr lang="en-US" sz="1800" dirty="0">
                <a:solidFill>
                  <a:srgbClr val="DCDCDC"/>
                </a:solidFill>
                <a:latin typeface="Aptos" panose="020B0004020202020204" pitchFamily="34" charset="0"/>
              </a:rPr>
              <a:t>, 2026</a:t>
            </a:r>
            <a:endParaRPr lang="en-IN" sz="1800" dirty="0">
              <a:solidFill>
                <a:srgbClr val="DCDCD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52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828D5-72AA-BBC2-77DE-CA099AD15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378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Project Objectives</a:t>
            </a:r>
            <a:endParaRPr lang="en-IN" sz="4000" b="1" dirty="0">
              <a:latin typeface="Aptos Display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96B74-E86B-D44B-F39E-5BF45C160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986"/>
            <a:ext cx="10911348" cy="2025906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DCDCDC"/>
                </a:solidFill>
                <a:latin typeface="Aptos" panose="020B0004020202020204" pitchFamily="34" charset="0"/>
              </a:rPr>
              <a:t>Analyze historical E-Commerce sales behavior</a:t>
            </a:r>
          </a:p>
          <a:p>
            <a:pPr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DCDCDC"/>
                </a:solidFill>
                <a:latin typeface="Aptos" panose="020B0004020202020204" pitchFamily="34" charset="0"/>
              </a:rPr>
              <a:t>Identify seasonal demand patterns and shopping spikes</a:t>
            </a:r>
          </a:p>
          <a:p>
            <a:pPr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DCDCDC"/>
                </a:solidFill>
                <a:latin typeface="Aptos" panose="020B0004020202020204" pitchFamily="34" charset="0"/>
              </a:rPr>
              <a:t>Perform forecasting diagnostics and volatility analysis</a:t>
            </a:r>
          </a:p>
          <a:p>
            <a:pPr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DCDCDC"/>
                </a:solidFill>
                <a:latin typeface="Aptos" panose="020B0004020202020204" pitchFamily="34" charset="0"/>
              </a:rPr>
              <a:t>Build a Machine Learning Forecasting Model using Linear Regression</a:t>
            </a:r>
          </a:p>
          <a:p>
            <a:pPr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DCDCDC"/>
                </a:solidFill>
                <a:latin typeface="Aptos" panose="020B0004020202020204" pitchFamily="34" charset="0"/>
              </a:rPr>
              <a:t>Predict future business sales trends and demand behavior</a:t>
            </a:r>
            <a:endParaRPr lang="en-IN" sz="2200" dirty="0">
              <a:solidFill>
                <a:srgbClr val="DCDCD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184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58D191-FDD4-F808-AE2F-6829574DE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Dataset Overview</a:t>
            </a:r>
            <a:endParaRPr lang="en-IN" sz="4000" b="1" dirty="0">
              <a:latin typeface="Aptos Display" panose="020B00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CFDA9F-0786-0041-600C-BE45194409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1800" dirty="0">
                <a:solidFill>
                  <a:srgbClr val="DCDCDC"/>
                </a:solidFill>
                <a:latin typeface="Aptos" panose="020B0004020202020204" pitchFamily="34" charset="0"/>
              </a:rPr>
              <a:t>Superstore Sales Dataset was used for the analysis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IN" sz="18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1800" dirty="0">
                <a:solidFill>
                  <a:srgbClr val="DCDCDC"/>
                </a:solidFill>
                <a:latin typeface="Aptos" panose="020B0004020202020204" pitchFamily="34" charset="0"/>
              </a:rPr>
              <a:t>Dataset contains e-commerce business transaction records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IN" sz="18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1800" dirty="0">
                <a:solidFill>
                  <a:srgbClr val="DCDCDC"/>
                </a:solidFill>
                <a:latin typeface="Aptos" panose="020B0004020202020204" pitchFamily="34" charset="0"/>
              </a:rPr>
              <a:t>Includes sales, profit, customer, category, segment, and regional information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buNone/>
            </a:pPr>
            <a:endParaRPr lang="en-IN" sz="18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1800" dirty="0">
                <a:solidFill>
                  <a:srgbClr val="DCDCDC"/>
                </a:solidFill>
                <a:latin typeface="Aptos" panose="020B0004020202020204" pitchFamily="34" charset="0"/>
              </a:rPr>
              <a:t>Historical sales data was used for forecasting and trend analysis</a:t>
            </a:r>
          </a:p>
          <a:p>
            <a:pPr>
              <a:lnSpc>
                <a:spcPct val="114000"/>
              </a:lnSpc>
              <a:spcBef>
                <a:spcPts val="0"/>
              </a:spcBef>
            </a:pPr>
            <a:endParaRPr lang="en-IN" sz="18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>
              <a:lnSpc>
                <a:spcPct val="114000"/>
              </a:lnSpc>
              <a:spcBef>
                <a:spcPts val="0"/>
              </a:spcBef>
            </a:pPr>
            <a:r>
              <a:rPr lang="en-IN" sz="1800" dirty="0">
                <a:solidFill>
                  <a:srgbClr val="DCDCDC"/>
                </a:solidFill>
                <a:latin typeface="Aptos" panose="020B0004020202020204" pitchFamily="34" charset="0"/>
              </a:rPr>
              <a:t>Dataset was analysed using Python, Pandas, Matplotlib, and Scikit-Learn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FDE1F81-E3D7-E862-DEEA-016DF6E8394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2" y="3162360"/>
            <a:ext cx="4623341" cy="163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969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36F3-641F-681B-82B4-6FF8DC7B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4930" y="391375"/>
            <a:ext cx="6762135" cy="109019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Yearly Sales Trend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E8807B-C6F4-FA76-81CF-7CD93066A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761" y="1530733"/>
            <a:ext cx="5894478" cy="38424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76F0EB-15F2-6BF2-FB59-BEF989512D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98515" y="5695691"/>
            <a:ext cx="4194969" cy="2528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81FEE0-85DC-8B32-D788-E243C83EEA7C}"/>
              </a:ext>
            </a:extLst>
          </p:cNvPr>
          <p:cNvSpPr txBox="1"/>
          <p:nvPr/>
        </p:nvSpPr>
        <p:spPr>
          <a:xfrm>
            <a:off x="1230260" y="6123543"/>
            <a:ext cx="973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DCDCDC"/>
                </a:solidFill>
                <a:latin typeface="Aptos" panose="020B0004020202020204" pitchFamily="34" charset="0"/>
              </a:rPr>
              <a:t>The business demonstrated a consistent long-term upward sales trend across all observed years.</a:t>
            </a:r>
            <a:endParaRPr lang="en-IN" dirty="0">
              <a:solidFill>
                <a:srgbClr val="DCDCD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76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6082-FEBF-1B0F-F7DF-D7DD1A24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Monthly &amp; Quarterly Sales Analysis</a:t>
            </a:r>
            <a:endParaRPr lang="en-IN" sz="4000" dirty="0">
              <a:latin typeface="Aptos Display" panose="020B00040202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E34C8D-FF05-7820-81D5-4A1E13C8FE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0" y="1810455"/>
            <a:ext cx="5110346" cy="333129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66BC6F8-FAFA-11C5-3E14-2F519FED1B5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15284" y="1810455"/>
            <a:ext cx="5110345" cy="33312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2CF78C-25B8-1885-1E7A-0EBAAB5827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1373" y="5387187"/>
            <a:ext cx="3878165" cy="2543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AB6A9AF-12EE-CA4B-EE3F-FE1658338A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4193" y="5387187"/>
            <a:ext cx="4213959" cy="2518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D38318A-3A90-7984-7A88-A6776D4445A3}"/>
              </a:ext>
            </a:extLst>
          </p:cNvPr>
          <p:cNvSpPr txBox="1"/>
          <p:nvPr/>
        </p:nvSpPr>
        <p:spPr>
          <a:xfrm>
            <a:off x="993140" y="5846544"/>
            <a:ext cx="10205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DCDCDC"/>
                </a:solidFill>
              </a:rPr>
              <a:t>The business demonstrated noticeable monthly and quarterly fluctuations, with Q4 consistently generating the highest sales activity.</a:t>
            </a:r>
          </a:p>
        </p:txBody>
      </p:sp>
    </p:spTree>
    <p:extLst>
      <p:ext uri="{BB962C8B-B14F-4D97-AF65-F5344CB8AC3E}">
        <p14:creationId xmlns:p14="http://schemas.microsoft.com/office/powerpoint/2010/main" val="4287343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A49FB-211B-DA18-AFCE-2C7E0D812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48" y="1247105"/>
            <a:ext cx="4343400" cy="612058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Volatility Analysis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E9031-470E-23E7-46F7-EBABC7532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5548" y="2280545"/>
            <a:ext cx="4343400" cy="2296909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dirty="0">
                <a:solidFill>
                  <a:srgbClr val="DCDCDC"/>
                </a:solidFill>
                <a:latin typeface="Aptos" panose="020B0004020202020204" pitchFamily="34" charset="0"/>
              </a:rPr>
              <a:t>• Major sales spikes were observed during Q4.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8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dirty="0">
                <a:solidFill>
                  <a:srgbClr val="DCDCDC"/>
                </a:solidFill>
                <a:latin typeface="Aptos" panose="020B0004020202020204" pitchFamily="34" charset="0"/>
              </a:rPr>
              <a:t>• Mid-year sales remained relatively stable.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sz="18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sz="1800" dirty="0">
                <a:solidFill>
                  <a:srgbClr val="DCDCDC"/>
                </a:solidFill>
                <a:latin typeface="Aptos" panose="020B0004020202020204" pitchFamily="34" charset="0"/>
              </a:rPr>
              <a:t>• The business displayed strong non-linear volatility.</a:t>
            </a: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9592DAA1-966A-9893-111A-FED11F90B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690" y="1247105"/>
            <a:ext cx="5488789" cy="35779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F754DB-43F3-2BAF-E45F-98F4952FF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205" y="5011016"/>
            <a:ext cx="4358309" cy="26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15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195DF-FD4E-9C28-714A-9B5B2A1C7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317" y="743755"/>
            <a:ext cx="5818463" cy="612651"/>
          </a:xfrm>
        </p:spPr>
        <p:txBody>
          <a:bodyPr>
            <a:noAutofit/>
          </a:bodyPr>
          <a:lstStyle/>
          <a:p>
            <a:r>
              <a:rPr lang="en-IN" sz="3500" b="1" dirty="0">
                <a:latin typeface="Aptos Display" panose="020B0004020202020204" pitchFamily="34" charset="0"/>
              </a:rPr>
              <a:t>Forecasting Workflow</a:t>
            </a:r>
            <a:endParaRPr lang="en-US" sz="3500" b="1" dirty="0">
              <a:latin typeface="Aptos Display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E7A18-C33E-E8A5-05FF-D0CBFB6EE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9318" y="1617466"/>
            <a:ext cx="5680811" cy="3623068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latin typeface="Aptos Display" panose="020B0004020202020204" pitchFamily="34" charset="0"/>
              </a:rPr>
              <a:t>• Historical sales records were used as the primary training dataset.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>
              <a:latin typeface="Aptos Display" panose="020B00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latin typeface="Aptos Display" panose="020B0004020202020204" pitchFamily="34" charset="0"/>
              </a:rPr>
              <a:t>• Linear Regression was implemented to identify sales trends and patterns.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>
              <a:latin typeface="Aptos Display" panose="020B00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latin typeface="Aptos Display" panose="020B0004020202020204" pitchFamily="34" charset="0"/>
              </a:rPr>
              <a:t>• The model was trained using time-based sales behavior.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>
              <a:latin typeface="Aptos Display" panose="020B00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latin typeface="Aptos Display" panose="020B0004020202020204" pitchFamily="34" charset="0"/>
              </a:rPr>
              <a:t>• Future sales values were predicted using the trained forecasting model.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>
              <a:latin typeface="Aptos Display" panose="020B00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>
                <a:latin typeface="Aptos Display" panose="020B0004020202020204" pitchFamily="34" charset="0"/>
              </a:rPr>
              <a:t>• The workflow enabled simple and efficient business demand prediction.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AD1D04-48FB-7302-7731-CC6F5FA916FB}"/>
              </a:ext>
            </a:extLst>
          </p:cNvPr>
          <p:cNvSpPr/>
          <p:nvPr/>
        </p:nvSpPr>
        <p:spPr>
          <a:xfrm>
            <a:off x="7022045" y="773251"/>
            <a:ext cx="252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Historical Sales 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46C68E-2E0F-64AC-1687-9AD68730B54B}"/>
              </a:ext>
            </a:extLst>
          </p:cNvPr>
          <p:cNvSpPr/>
          <p:nvPr/>
        </p:nvSpPr>
        <p:spPr>
          <a:xfrm>
            <a:off x="7022045" y="1830052"/>
            <a:ext cx="2520000" cy="612000"/>
          </a:xfrm>
          <a:prstGeom prst="roundRect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Linear Regression Model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D7A979-CA03-2344-395B-743BF44E9A40}"/>
              </a:ext>
            </a:extLst>
          </p:cNvPr>
          <p:cNvSpPr/>
          <p:nvPr/>
        </p:nvSpPr>
        <p:spPr>
          <a:xfrm>
            <a:off x="7022403" y="2889000"/>
            <a:ext cx="252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Aptos" panose="020B0004020202020204" pitchFamily="34" charset="0"/>
              </a:rPr>
              <a:t>Future Sales Prediction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753EBBC-CAE1-AD96-6C8E-129BDBE27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731" y="4147865"/>
            <a:ext cx="2407092" cy="10520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4DB91E-36D7-E36C-7C5C-EFB4515FB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1731" y="5381813"/>
            <a:ext cx="3292125" cy="518205"/>
          </a:xfrm>
          <a:prstGeom prst="rect">
            <a:avLst/>
          </a:prstGeom>
        </p:spPr>
      </p:pic>
      <p:sp>
        <p:nvSpPr>
          <p:cNvPr id="20" name="Arrow: Down 19">
            <a:extLst>
              <a:ext uri="{FF2B5EF4-FFF2-40B4-BE49-F238E27FC236}">
                <a16:creationId xmlns:a16="http://schemas.microsoft.com/office/drawing/2014/main" id="{7E9CB19E-5A16-D42C-9405-A272772A360A}"/>
              </a:ext>
            </a:extLst>
          </p:cNvPr>
          <p:cNvSpPr/>
          <p:nvPr/>
        </p:nvSpPr>
        <p:spPr>
          <a:xfrm>
            <a:off x="8136739" y="2501206"/>
            <a:ext cx="332477" cy="3328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159D18-7475-5FDA-79E6-8EB0EA99C9EC}"/>
              </a:ext>
            </a:extLst>
          </p:cNvPr>
          <p:cNvSpPr txBox="1"/>
          <p:nvPr/>
        </p:nvSpPr>
        <p:spPr>
          <a:xfrm>
            <a:off x="6961239" y="3807157"/>
            <a:ext cx="24070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1400" b="1" dirty="0">
                <a:solidFill>
                  <a:srgbClr val="DCDCDC"/>
                </a:solidFill>
                <a:latin typeface="Aptos" panose="020B0004020202020204" pitchFamily="34" charset="0"/>
              </a:rPr>
              <a:t>Implementation Snippet: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B28C7F97-C0EF-CC86-66B2-F8F21300DDF2}"/>
              </a:ext>
            </a:extLst>
          </p:cNvPr>
          <p:cNvSpPr/>
          <p:nvPr/>
        </p:nvSpPr>
        <p:spPr>
          <a:xfrm>
            <a:off x="8136381" y="1444748"/>
            <a:ext cx="332477" cy="33280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F8770F-B9E1-B5A3-9CE0-59A1578A9984}"/>
              </a:ext>
            </a:extLst>
          </p:cNvPr>
          <p:cNvSpPr txBox="1"/>
          <p:nvPr/>
        </p:nvSpPr>
        <p:spPr>
          <a:xfrm>
            <a:off x="6921911" y="365008"/>
            <a:ext cx="17993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/>
            <a:r>
              <a:rPr lang="en-IN" sz="1400" b="1" dirty="0">
                <a:solidFill>
                  <a:srgbClr val="DCDCDC"/>
                </a:solidFill>
                <a:latin typeface="Aptos" panose="020B0004020202020204" pitchFamily="34" charset="0"/>
              </a:rPr>
              <a:t>Workflow Diagram:</a:t>
            </a:r>
          </a:p>
        </p:txBody>
      </p:sp>
    </p:spTree>
    <p:extLst>
      <p:ext uri="{BB962C8B-B14F-4D97-AF65-F5344CB8AC3E}">
        <p14:creationId xmlns:p14="http://schemas.microsoft.com/office/powerpoint/2010/main" val="2647971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34E478-A55A-972A-3542-7003FD288E23}"/>
              </a:ext>
            </a:extLst>
          </p:cNvPr>
          <p:cNvSpPr txBox="1"/>
          <p:nvPr/>
        </p:nvSpPr>
        <p:spPr>
          <a:xfrm>
            <a:off x="3048000" y="326611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Future Sales Prediction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35F36-7F89-8D9C-AE30-035F5467C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998" y="1300770"/>
            <a:ext cx="7020000" cy="376214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1BB8CE-26D0-3496-F5A9-FF6C6590ED32}"/>
              </a:ext>
            </a:extLst>
          </p:cNvPr>
          <p:cNvSpPr/>
          <p:nvPr/>
        </p:nvSpPr>
        <p:spPr>
          <a:xfrm>
            <a:off x="4483509" y="5456902"/>
            <a:ext cx="3224981" cy="1260000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latin typeface="Aptos Display" panose="020B0004020202020204" pitchFamily="34" charset="0"/>
            </a:endParaRPr>
          </a:p>
          <a:p>
            <a:pPr algn="ctr"/>
            <a:endParaRPr lang="en-US" sz="1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Forecast values follow consistent historical sales behavior.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22AD43-142A-DAF0-B15A-47CB5D2B7E58}"/>
              </a:ext>
            </a:extLst>
          </p:cNvPr>
          <p:cNvSpPr txBox="1"/>
          <p:nvPr/>
        </p:nvSpPr>
        <p:spPr>
          <a:xfrm>
            <a:off x="5117689" y="5518747"/>
            <a:ext cx="1956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Stable Forecast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50172F-D135-2583-079D-51BD7BE78DD9}"/>
              </a:ext>
            </a:extLst>
          </p:cNvPr>
          <p:cNvSpPr/>
          <p:nvPr/>
        </p:nvSpPr>
        <p:spPr>
          <a:xfrm>
            <a:off x="8593393" y="5456902"/>
            <a:ext cx="3224981" cy="1260000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solidFill>
                <a:srgbClr val="DCDCDC"/>
              </a:solidFill>
              <a:latin typeface="Aptos Display" panose="020B0004020202020204" pitchFamily="34" charset="0"/>
            </a:endParaRPr>
          </a:p>
          <a:p>
            <a:pPr algn="ctr"/>
            <a:endParaRPr lang="en-US" sz="1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Forecasting supports future inventory and demand planning.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EA4752-C17E-0470-3B5F-57BE9B1F540C}"/>
              </a:ext>
            </a:extLst>
          </p:cNvPr>
          <p:cNvSpPr txBox="1"/>
          <p:nvPr/>
        </p:nvSpPr>
        <p:spPr>
          <a:xfrm>
            <a:off x="9296401" y="5518747"/>
            <a:ext cx="1956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Business Utility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A5097-B483-37D7-6FF2-86985A3695B4}"/>
              </a:ext>
            </a:extLst>
          </p:cNvPr>
          <p:cNvSpPr/>
          <p:nvPr/>
        </p:nvSpPr>
        <p:spPr>
          <a:xfrm>
            <a:off x="373625" y="5456902"/>
            <a:ext cx="3224981" cy="1260000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latin typeface="Aptos Display" panose="020B0004020202020204" pitchFamily="34" charset="0"/>
            </a:endParaRPr>
          </a:p>
          <a:p>
            <a:pPr algn="ctr"/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Predicted sales continue to show long-term business growth.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3937CB-096E-5A03-C9DA-18454BCF5D0A}"/>
              </a:ext>
            </a:extLst>
          </p:cNvPr>
          <p:cNvSpPr txBox="1"/>
          <p:nvPr/>
        </p:nvSpPr>
        <p:spPr>
          <a:xfrm>
            <a:off x="1007808" y="5518747"/>
            <a:ext cx="19566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Upward Trend</a:t>
            </a:r>
          </a:p>
        </p:txBody>
      </p:sp>
    </p:spTree>
    <p:extLst>
      <p:ext uri="{BB962C8B-B14F-4D97-AF65-F5344CB8AC3E}">
        <p14:creationId xmlns:p14="http://schemas.microsoft.com/office/powerpoint/2010/main" val="3574153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96307-ABCD-5E82-339C-050851421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0439"/>
            <a:ext cx="10515600" cy="1130249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Business Insights &amp; Interpretation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C7674-DBB1-5BF3-EC5C-6644131EA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4198" y="1995949"/>
            <a:ext cx="1869815" cy="469798"/>
          </a:xfrm>
        </p:spPr>
        <p:txBody>
          <a:bodyPr>
            <a:normAutofit/>
          </a:bodyPr>
          <a:lstStyle/>
          <a:p>
            <a:pPr algn="ctr"/>
            <a:r>
              <a:rPr lang="en-US" sz="2600" dirty="0">
                <a:latin typeface="Aptos Display" panose="020B0004020202020204" pitchFamily="34" charset="0"/>
              </a:rPr>
              <a:t>Key Insights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405A9-CBCE-D911-C8E8-0BF9E06DD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77621" y="2642723"/>
            <a:ext cx="5065204" cy="2607701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DCDCDC"/>
                </a:solidFill>
                <a:latin typeface="Aptos" panose="020B0004020202020204" pitchFamily="34" charset="0"/>
              </a:rPr>
              <a:t>Sales demonstrated consistent long-term growth trends.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DCDCDC"/>
                </a:solidFill>
                <a:latin typeface="Aptos" panose="020B0004020202020204" pitchFamily="34" charset="0"/>
              </a:rPr>
              <a:t>Q4 periods generated the highest sales activity.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DCDCDC"/>
                </a:solidFill>
                <a:latin typeface="Aptos" panose="020B0004020202020204" pitchFamily="34" charset="0"/>
              </a:rPr>
              <a:t>Monthly sales patterns showed noticeable volatility.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DCDCDC"/>
                </a:solidFill>
                <a:latin typeface="Aptos" panose="020B0004020202020204" pitchFamily="34" charset="0"/>
              </a:rPr>
              <a:t>Forecasting results indicated stable future demand growth.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D00849-04DA-896D-9EBF-99B629F9C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796982" y="1974135"/>
            <a:ext cx="2448233" cy="469798"/>
          </a:xfrm>
        </p:spPr>
        <p:txBody>
          <a:bodyPr/>
          <a:lstStyle/>
          <a:p>
            <a:pPr algn="ctr"/>
            <a:r>
              <a:rPr lang="en-US" dirty="0">
                <a:latin typeface="Aptos Display" panose="020B0004020202020204" pitchFamily="34" charset="0"/>
              </a:rPr>
              <a:t>Business Impact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48FBCE-FF1A-D4BE-D611-EC4490B57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90184" y="2642724"/>
            <a:ext cx="5065204" cy="251921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DCDCDC"/>
                </a:solidFill>
                <a:latin typeface="Aptos" panose="020B0004020202020204" pitchFamily="34" charset="0"/>
              </a:rPr>
              <a:t>The business can optimize inventory during peak seasons.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DCDCDC"/>
                </a:solidFill>
                <a:latin typeface="Aptos" panose="020B0004020202020204" pitchFamily="34" charset="0"/>
              </a:rPr>
              <a:t>Forecasting reduces overstock and understock risks.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DCDCDC"/>
                </a:solidFill>
                <a:latin typeface="Aptos" panose="020B0004020202020204" pitchFamily="34" charset="0"/>
              </a:rPr>
              <a:t>Trend analysis supports better strategic planning.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700" dirty="0">
                <a:solidFill>
                  <a:srgbClr val="DCDCDC"/>
                </a:solidFill>
                <a:latin typeface="Aptos" panose="020B0004020202020204" pitchFamily="34" charset="0"/>
              </a:rPr>
              <a:t>Data-driven forecasting improves operational efficiency.</a:t>
            </a:r>
          </a:p>
        </p:txBody>
      </p:sp>
      <p:pic>
        <p:nvPicPr>
          <p:cNvPr id="14" name="Graphic 13" descr="Upward trend with solid fill">
            <a:extLst>
              <a:ext uri="{FF2B5EF4-FFF2-40B4-BE49-F238E27FC236}">
                <a16:creationId xmlns:a16="http://schemas.microsoft.com/office/drawing/2014/main" id="{6310C36C-5A49-61E9-5CD4-EEDA7DEA0A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1199" y="1949553"/>
            <a:ext cx="516194" cy="516194"/>
          </a:xfrm>
          <a:prstGeom prst="rect">
            <a:avLst/>
          </a:prstGeom>
        </p:spPr>
      </p:pic>
      <p:pic>
        <p:nvPicPr>
          <p:cNvPr id="16" name="Graphic 15" descr="Bar chart with solid fill">
            <a:extLst>
              <a:ext uri="{FF2B5EF4-FFF2-40B4-BE49-F238E27FC236}">
                <a16:creationId xmlns:a16="http://schemas.microsoft.com/office/drawing/2014/main" id="{F485B501-9D50-F7DD-0B27-7C5E31A26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1192" y="1949553"/>
            <a:ext cx="516194" cy="51619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A135C87-53D5-6588-4C94-36618F883530}"/>
              </a:ext>
            </a:extLst>
          </p:cNvPr>
          <p:cNvSpPr txBox="1"/>
          <p:nvPr/>
        </p:nvSpPr>
        <p:spPr>
          <a:xfrm>
            <a:off x="2654710" y="5694171"/>
            <a:ext cx="668347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i="1" dirty="0">
                <a:solidFill>
                  <a:srgbClr val="DCDCDC"/>
                </a:solidFill>
                <a:latin typeface="Aptos Display" panose="020B0004020202020204" pitchFamily="34" charset="0"/>
              </a:rPr>
              <a:t>"Forecasting enables smarter business planning and strategic decision-making."</a:t>
            </a:r>
          </a:p>
        </p:txBody>
      </p:sp>
    </p:spTree>
    <p:extLst>
      <p:ext uri="{BB962C8B-B14F-4D97-AF65-F5344CB8AC3E}">
        <p14:creationId xmlns:p14="http://schemas.microsoft.com/office/powerpoint/2010/main" val="1111780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713E3-CEFD-1EC2-750B-6D7F6C4B3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2301"/>
            <a:ext cx="10515600" cy="89919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Model Limitations and Future 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9971A-CDE4-18ED-6802-F58222C97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3394" y="1966450"/>
            <a:ext cx="4355690" cy="528791"/>
          </a:xfrm>
        </p:spPr>
        <p:txBody>
          <a:bodyPr>
            <a:noAutofit/>
          </a:bodyPr>
          <a:lstStyle/>
          <a:p>
            <a:pPr algn="ctr"/>
            <a:r>
              <a:rPr lang="en-IN" sz="2600" dirty="0"/>
              <a:t>⚠️ </a:t>
            </a:r>
            <a:r>
              <a:rPr lang="en-US" sz="2600" dirty="0">
                <a:latin typeface="Aptos Display" panose="020B0004020202020204" pitchFamily="34" charset="0"/>
              </a:rPr>
              <a:t>Model Limitations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AE3C3-847C-AC5A-49BF-515802240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73898"/>
            <a:ext cx="5157787" cy="349260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rgbClr val="DCDCDC"/>
                </a:solidFill>
                <a:latin typeface="Aptos" panose="020B0004020202020204" pitchFamily="34" charset="0"/>
              </a:rPr>
              <a:t>Linear Regression assumes a linear relationship in sales trends.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rgbClr val="DCDCDC"/>
                </a:solidFill>
                <a:latin typeface="Aptos" panose="020B0004020202020204" pitchFamily="34" charset="0"/>
              </a:rPr>
              <a:t>External business factors like seasonality and market demand were not included.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rgbClr val="DCDCDC"/>
                </a:solidFill>
                <a:latin typeface="Aptos" panose="020B0004020202020204" pitchFamily="34" charset="0"/>
              </a:rPr>
              <a:t>Prediction accuracy may vary with real-world fluctuations.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rgbClr val="DCDCDC"/>
                </a:solidFill>
                <a:latin typeface="Aptos" panose="020B0004020202020204" pitchFamily="34" charset="0"/>
              </a:rPr>
              <a:t>The model focused on basic forecasting implementation.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B05A95-5819-C832-7CAD-46AF2A2FFE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4269" y="2000862"/>
            <a:ext cx="4355690" cy="459965"/>
          </a:xfrm>
        </p:spPr>
        <p:txBody>
          <a:bodyPr>
            <a:normAutofit/>
          </a:bodyPr>
          <a:lstStyle/>
          <a:p>
            <a:pPr algn="ctr"/>
            <a:r>
              <a:rPr lang="en-IN" sz="2600" dirty="0">
                <a:latin typeface="Aptos Display" panose="020B0004020202020204" pitchFamily="34" charset="0"/>
              </a:rPr>
              <a:t>🚀 Future Improvements</a:t>
            </a:r>
            <a:endParaRPr lang="en-US" sz="2600" dirty="0">
              <a:latin typeface="Aptos Display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1EE8E9-ACE8-C2FB-4935-301069EA16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520" y="2564067"/>
            <a:ext cx="5183188" cy="350243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rgbClr val="DCDCDC"/>
                </a:solidFill>
              </a:rPr>
              <a:t>Advanced ML models like Random Forest or </a:t>
            </a:r>
            <a:r>
              <a:rPr lang="en-IN" sz="1700" dirty="0" err="1">
                <a:solidFill>
                  <a:srgbClr val="DCDCDC"/>
                </a:solidFill>
              </a:rPr>
              <a:t>XGBoost</a:t>
            </a:r>
            <a:r>
              <a:rPr lang="en-IN" sz="1700" dirty="0">
                <a:solidFill>
                  <a:srgbClr val="DCDCDC"/>
                </a:solidFill>
              </a:rPr>
              <a:t> can be implemented.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rgbClr val="DCDCDC"/>
                </a:solidFill>
              </a:rPr>
              <a:t>Seasonal and festival-based demand analysis can be added.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rgbClr val="DCDCDC"/>
                </a:solidFill>
              </a:rPr>
              <a:t>Real-time business data integration can improve predictions.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700" dirty="0">
                <a:solidFill>
                  <a:srgbClr val="DCDCDC"/>
                </a:solidFill>
              </a:rPr>
              <a:t>Larger datasets can improve forecasting reliability. </a:t>
            </a:r>
          </a:p>
        </p:txBody>
      </p:sp>
    </p:spTree>
    <p:extLst>
      <p:ext uri="{BB962C8B-B14F-4D97-AF65-F5344CB8AC3E}">
        <p14:creationId xmlns:p14="http://schemas.microsoft.com/office/powerpoint/2010/main" val="4155803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1EE58-5EE6-D850-C2BD-B4E88EB5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Tools &amp; Technologies Used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92B6B30-5EE4-86E5-45B0-A6C166A11ACB}"/>
              </a:ext>
            </a:extLst>
          </p:cNvPr>
          <p:cNvSpPr/>
          <p:nvPr/>
        </p:nvSpPr>
        <p:spPr>
          <a:xfrm>
            <a:off x="838200" y="2169000"/>
            <a:ext cx="4032000" cy="1440000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75000"/>
                <a:alpha val="15000"/>
              </a:scheme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700" dirty="0"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IN" sz="1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endParaRPr lang="en-IN" sz="1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endParaRPr lang="en-IN" sz="1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endParaRPr lang="en-IN" sz="1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endParaRPr lang="en-IN" sz="1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endParaRPr lang="en-IN" sz="1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endParaRPr lang="en-IN" sz="1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endParaRPr lang="en-IN" sz="1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endParaRPr lang="en-IN" sz="1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>
              <a:lnSpc>
                <a:spcPct val="114000"/>
              </a:lnSpc>
            </a:pPr>
            <a:r>
              <a:rPr lang="en-IN" sz="1300" b="1" dirty="0">
                <a:solidFill>
                  <a:srgbClr val="DCDCDC"/>
                </a:solidFill>
                <a:latin typeface="Aptos" panose="020B0004020202020204" pitchFamily="34" charset="0"/>
              </a:rPr>
              <a:t>Python</a:t>
            </a:r>
            <a:r>
              <a:rPr lang="en-IN" sz="1300" dirty="0">
                <a:solidFill>
                  <a:srgbClr val="DCDCDC"/>
                </a:solidFill>
                <a:latin typeface="Aptos" panose="020B0004020202020204" pitchFamily="34" charset="0"/>
              </a:rPr>
              <a:t> 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IN" sz="1300" dirty="0">
                <a:solidFill>
                  <a:srgbClr val="DCDCDC"/>
                </a:solidFill>
                <a:latin typeface="Aptos" panose="020B0004020202020204" pitchFamily="34" charset="0"/>
              </a:rPr>
              <a:t>Used for data analysis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IN" sz="1300" dirty="0">
                <a:solidFill>
                  <a:srgbClr val="DCDCDC"/>
                </a:solidFill>
                <a:latin typeface="Aptos" panose="020B0004020202020204" pitchFamily="34" charset="0"/>
              </a:rPr>
              <a:t>Also used for ML implementations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IN" sz="1300" dirty="0">
                <a:solidFill>
                  <a:srgbClr val="DCDCDC"/>
                </a:solidFill>
                <a:latin typeface="Aptos" panose="020B0004020202020204" pitchFamily="34" charset="0"/>
              </a:rPr>
              <a:t>Supported forecasting model development</a:t>
            </a:r>
            <a:endParaRPr lang="en-US" sz="1300" dirty="0">
              <a:solidFill>
                <a:srgbClr val="DCDCDC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F40FF5-BAFF-2450-06E2-19FF0A1A87C7}"/>
              </a:ext>
            </a:extLst>
          </p:cNvPr>
          <p:cNvSpPr/>
          <p:nvPr/>
        </p:nvSpPr>
        <p:spPr>
          <a:xfrm>
            <a:off x="838200" y="4356678"/>
            <a:ext cx="4032000" cy="1440000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75000"/>
                <a:alpha val="15000"/>
              </a:scheme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21DAD7-8476-0858-6F99-59F64CF5E03A}"/>
              </a:ext>
            </a:extLst>
          </p:cNvPr>
          <p:cNvSpPr/>
          <p:nvPr/>
        </p:nvSpPr>
        <p:spPr>
          <a:xfrm>
            <a:off x="7393800" y="4356678"/>
            <a:ext cx="4032000" cy="1440000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75000"/>
                <a:alpha val="15000"/>
              </a:scheme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68A90D-5FBC-BD03-11F2-CAC5C858A1CF}"/>
              </a:ext>
            </a:extLst>
          </p:cNvPr>
          <p:cNvSpPr/>
          <p:nvPr/>
        </p:nvSpPr>
        <p:spPr>
          <a:xfrm>
            <a:off x="7393800" y="2169000"/>
            <a:ext cx="4032000" cy="1440000"/>
          </a:xfrm>
          <a:prstGeom prst="roundRect">
            <a:avLst/>
          </a:prstGeom>
          <a:ln w="19050">
            <a:solidFill>
              <a:schemeClr val="tx1"/>
            </a:solidFill>
          </a:ln>
          <a:effectLst>
            <a:outerShdw blurRad="50800" dist="50800" dir="5400000" algn="ctr" rotWithShape="0">
              <a:schemeClr val="tx1">
                <a:lumMod val="75000"/>
                <a:alpha val="15000"/>
              </a:scheme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E7CB74-DDE0-0A20-CFA8-5600CB408DD5}"/>
              </a:ext>
            </a:extLst>
          </p:cNvPr>
          <p:cNvSpPr txBox="1"/>
          <p:nvPr/>
        </p:nvSpPr>
        <p:spPr>
          <a:xfrm>
            <a:off x="838200" y="2182256"/>
            <a:ext cx="380262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00" b="1" dirty="0"/>
          </a:p>
          <a:p>
            <a:r>
              <a:rPr lang="en-IN" sz="2000" b="1" dirty="0"/>
              <a:t>🐍 Programming Language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777D18-E46E-96CE-A159-FD0EAA1FA82E}"/>
              </a:ext>
            </a:extLst>
          </p:cNvPr>
          <p:cNvSpPr txBox="1"/>
          <p:nvPr/>
        </p:nvSpPr>
        <p:spPr>
          <a:xfrm>
            <a:off x="7393800" y="2190702"/>
            <a:ext cx="403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00" b="1" dirty="0"/>
          </a:p>
          <a:p>
            <a:r>
              <a:rPr lang="en-IN" sz="2000" b="1" dirty="0"/>
              <a:t>📚 Libraries &amp; Frameworks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10BF82-A369-146E-84AA-7611AC9BB6AE}"/>
              </a:ext>
            </a:extLst>
          </p:cNvPr>
          <p:cNvSpPr txBox="1"/>
          <p:nvPr/>
        </p:nvSpPr>
        <p:spPr>
          <a:xfrm>
            <a:off x="7438125" y="2574480"/>
            <a:ext cx="1495573" cy="99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Pandas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NumPy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Matplotlib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Scikit-learn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1457D-ADC3-9B19-2A28-B1E85FDD2973}"/>
              </a:ext>
            </a:extLst>
          </p:cNvPr>
          <p:cNvSpPr txBox="1"/>
          <p:nvPr/>
        </p:nvSpPr>
        <p:spPr>
          <a:xfrm>
            <a:off x="838199" y="4356678"/>
            <a:ext cx="31438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00" b="1" dirty="0"/>
          </a:p>
          <a:p>
            <a:r>
              <a:rPr lang="en-IN" sz="2000" b="1" dirty="0"/>
              <a:t>💻 Development Tools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556852-5ABF-33ED-9FCB-1B7587EDFD80}"/>
              </a:ext>
            </a:extLst>
          </p:cNvPr>
          <p:cNvSpPr txBox="1"/>
          <p:nvPr/>
        </p:nvSpPr>
        <p:spPr>
          <a:xfrm>
            <a:off x="837048" y="4735351"/>
            <a:ext cx="3936135" cy="99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Jupyter Notebook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VS Code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Google Colab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Used for coding and experimentation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FF9230-9889-D0E3-40E7-0C922D3A7051}"/>
              </a:ext>
            </a:extLst>
          </p:cNvPr>
          <p:cNvSpPr txBox="1"/>
          <p:nvPr/>
        </p:nvSpPr>
        <p:spPr>
          <a:xfrm>
            <a:off x="7388892" y="4358716"/>
            <a:ext cx="40320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00" b="1" dirty="0"/>
          </a:p>
          <a:p>
            <a:r>
              <a:rPr lang="en-IN" sz="2000" b="1" dirty="0"/>
              <a:t>📊 Visualization Tools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A12226-3F54-C89F-4CBC-42673936E209}"/>
              </a:ext>
            </a:extLst>
          </p:cNvPr>
          <p:cNvSpPr txBox="1"/>
          <p:nvPr/>
        </p:nvSpPr>
        <p:spPr>
          <a:xfrm>
            <a:off x="7438125" y="4735352"/>
            <a:ext cx="3936135" cy="993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Matplotlib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Microsoft Excel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§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PowerPoint</a:t>
            </a:r>
          </a:p>
          <a:p>
            <a:pPr marL="285750" indent="-285750">
              <a:lnSpc>
                <a:spcPct val="114000"/>
              </a:lnSpc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DCDCDC"/>
                </a:solidFill>
                <a:latin typeface="Aptos" panose="020B0004020202020204" pitchFamily="34" charset="0"/>
              </a:rPr>
              <a:t>Used for charts, analysis, and reporting</a:t>
            </a:r>
          </a:p>
        </p:txBody>
      </p:sp>
    </p:spTree>
    <p:extLst>
      <p:ext uri="{BB962C8B-B14F-4D97-AF65-F5344CB8AC3E}">
        <p14:creationId xmlns:p14="http://schemas.microsoft.com/office/powerpoint/2010/main" val="2955875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93BA-1A65-31A6-097A-F5326793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Project Outcomes &amp; Learning Experience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0C34F-90F2-8A1C-2252-97D9D4740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38635"/>
            <a:ext cx="5157787" cy="538623"/>
          </a:xfrm>
        </p:spPr>
        <p:txBody>
          <a:bodyPr>
            <a:normAutofit/>
          </a:bodyPr>
          <a:lstStyle/>
          <a:p>
            <a:pPr algn="ctr"/>
            <a:r>
              <a:rPr lang="en-IN" sz="2600" dirty="0">
                <a:latin typeface="Aptos" panose="020B0004020202020204" pitchFamily="34" charset="0"/>
              </a:rPr>
              <a:t>📈 Project Outcomes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A18E-586C-09BE-E150-D2A00543B7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0575" y="2396921"/>
            <a:ext cx="5436000" cy="2520000"/>
          </a:xfrm>
        </p:spPr>
        <p:txBody>
          <a:bodyPr>
            <a:normAutofit/>
          </a:bodyPr>
          <a:lstStyle/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endParaRPr lang="en-IN" sz="1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Successful analysis of historical sales data.</a:t>
            </a: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Identified monthly and quarterly sales trends.</a:t>
            </a: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Built a working sales forecasting model.</a:t>
            </a: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Generated future sales predictions using ML.</a:t>
            </a: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Improved understanding of business demand patterns.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70FB50-8BB0-8B1D-F7C6-EB42748465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8635"/>
            <a:ext cx="5183188" cy="538624"/>
          </a:xfrm>
        </p:spPr>
        <p:txBody>
          <a:bodyPr>
            <a:normAutofit/>
          </a:bodyPr>
          <a:lstStyle/>
          <a:p>
            <a:pPr algn="ctr"/>
            <a:r>
              <a:rPr lang="en-IN" sz="2600" dirty="0">
                <a:latin typeface="Aptos" panose="020B0004020202020204" pitchFamily="34" charset="0"/>
              </a:rPr>
              <a:t>🧠 Key Learnings</a:t>
            </a:r>
            <a:endParaRPr lang="en-US" sz="2600" dirty="0">
              <a:latin typeface="Aptos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A281A3-6E92-34A8-F0B8-8D220751C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9406" y="2524737"/>
            <a:ext cx="5436000" cy="2520000"/>
          </a:xfrm>
        </p:spPr>
        <p:txBody>
          <a:bodyPr>
            <a:normAutofit/>
          </a:bodyPr>
          <a:lstStyle/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Learned practical implementation of Linear Regression.</a:t>
            </a: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Improved Python and data analysis skills.</a:t>
            </a: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Understood real-world forecasting workflows.</a:t>
            </a: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Gained experience in data visualization and reporting.</a:t>
            </a:r>
          </a:p>
          <a:p>
            <a:pPr marL="226800" indent="-22680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solidFill>
                  <a:srgbClr val="DCDCDC"/>
                </a:solidFill>
                <a:latin typeface="Aptos" panose="020B0004020202020204" pitchFamily="34" charset="0"/>
              </a:rPr>
              <a:t>Enhanced problem-solving and presentation abilities.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14D6ED-AB51-C0A3-86F5-9C175BFF0847}"/>
              </a:ext>
            </a:extLst>
          </p:cNvPr>
          <p:cNvSpPr txBox="1"/>
          <p:nvPr/>
        </p:nvSpPr>
        <p:spPr>
          <a:xfrm>
            <a:off x="3048000" y="5750970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i="1" dirty="0">
                <a:solidFill>
                  <a:srgbClr val="DCDCDC"/>
                </a:solidFill>
                <a:latin typeface="Aptos" panose="020B0004020202020204" pitchFamily="34" charset="0"/>
              </a:rPr>
              <a:t>“Bridging data analysis with real-world business forecasting.”</a:t>
            </a:r>
          </a:p>
        </p:txBody>
      </p:sp>
    </p:spTree>
    <p:extLst>
      <p:ext uri="{BB962C8B-B14F-4D97-AF65-F5344CB8AC3E}">
        <p14:creationId xmlns:p14="http://schemas.microsoft.com/office/powerpoint/2010/main" val="4004619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88C06-931D-5C41-F93B-A1D790AE9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46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Data Preparation Pipeline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0139F9B-BE2E-D902-A6C8-CE27E6F6432C}"/>
              </a:ext>
            </a:extLst>
          </p:cNvPr>
          <p:cNvSpPr/>
          <p:nvPr/>
        </p:nvSpPr>
        <p:spPr>
          <a:xfrm>
            <a:off x="4685071" y="1612032"/>
            <a:ext cx="2821858" cy="720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DCDCDC"/>
                </a:solidFill>
                <a:latin typeface="Aptos" panose="020B0004020202020204" pitchFamily="34" charset="0"/>
              </a:rPr>
              <a:t>Raw Dataset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3A8D76-E528-6EA9-4BB0-F5D8C8065521}"/>
              </a:ext>
            </a:extLst>
          </p:cNvPr>
          <p:cNvSpPr/>
          <p:nvPr/>
        </p:nvSpPr>
        <p:spPr>
          <a:xfrm>
            <a:off x="4685071" y="2924641"/>
            <a:ext cx="2821858" cy="720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DCDCDC"/>
                </a:solidFill>
                <a:latin typeface="Aptos" panose="020B0004020202020204" pitchFamily="34" charset="0"/>
              </a:rPr>
              <a:t>Data Cleaning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84E935-5E19-8E05-487C-6B5BCFD63D64}"/>
              </a:ext>
            </a:extLst>
          </p:cNvPr>
          <p:cNvSpPr/>
          <p:nvPr/>
        </p:nvSpPr>
        <p:spPr>
          <a:xfrm>
            <a:off x="4685071" y="4237250"/>
            <a:ext cx="2821858" cy="720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DCDCDC"/>
                </a:solidFill>
                <a:latin typeface="Aptos" panose="020B0004020202020204" pitchFamily="34" charset="0"/>
              </a:rPr>
              <a:t>Feature Engineering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91B0B9D-2048-838A-0E0C-C6B6A3BBF6EE}"/>
              </a:ext>
            </a:extLst>
          </p:cNvPr>
          <p:cNvSpPr/>
          <p:nvPr/>
        </p:nvSpPr>
        <p:spPr>
          <a:xfrm>
            <a:off x="4685071" y="5549859"/>
            <a:ext cx="2821858" cy="720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DCDCDC"/>
                </a:solidFill>
                <a:latin typeface="Aptos" panose="020B0004020202020204" pitchFamily="34" charset="0"/>
              </a:rPr>
              <a:t>Model-Ready Data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9FC47F9-C1B8-06EA-7C13-9FB82BFECED8}"/>
              </a:ext>
            </a:extLst>
          </p:cNvPr>
          <p:cNvSpPr/>
          <p:nvPr/>
        </p:nvSpPr>
        <p:spPr>
          <a:xfrm>
            <a:off x="5958348" y="2332032"/>
            <a:ext cx="334297" cy="59260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B4D22583-E37E-EFAB-7945-1DA1A112A4A6}"/>
              </a:ext>
            </a:extLst>
          </p:cNvPr>
          <p:cNvSpPr/>
          <p:nvPr/>
        </p:nvSpPr>
        <p:spPr>
          <a:xfrm>
            <a:off x="5973094" y="3657595"/>
            <a:ext cx="334297" cy="59260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BA2B5B40-01C4-7E18-ADCC-BFA3466DBE37}"/>
              </a:ext>
            </a:extLst>
          </p:cNvPr>
          <p:cNvSpPr/>
          <p:nvPr/>
        </p:nvSpPr>
        <p:spPr>
          <a:xfrm>
            <a:off x="5958347" y="4957250"/>
            <a:ext cx="334297" cy="592609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66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98F7343-ACAA-2FF9-8471-A124CE642DC6}"/>
              </a:ext>
            </a:extLst>
          </p:cNvPr>
          <p:cNvSpPr/>
          <p:nvPr/>
        </p:nvSpPr>
        <p:spPr>
          <a:xfrm>
            <a:off x="6591118" y="1919746"/>
            <a:ext cx="5183188" cy="3168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7E96304-6669-42E7-175D-26094F717954}"/>
              </a:ext>
            </a:extLst>
          </p:cNvPr>
          <p:cNvSpPr/>
          <p:nvPr/>
        </p:nvSpPr>
        <p:spPr>
          <a:xfrm>
            <a:off x="519102" y="1919747"/>
            <a:ext cx="5183188" cy="3168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54A165-3771-1826-AD82-1FFD8F9C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Data Preparation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648E1-8A27-E8A8-6165-AEE84C8C7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5237" y="2467885"/>
            <a:ext cx="2870917" cy="479630"/>
          </a:xfrm>
        </p:spPr>
        <p:txBody>
          <a:bodyPr>
            <a:normAutofit/>
          </a:bodyPr>
          <a:lstStyle/>
          <a:p>
            <a:pPr algn="ctr"/>
            <a:r>
              <a:rPr lang="en-IN" sz="300" dirty="0"/>
              <a:t>🧹</a:t>
            </a:r>
            <a:r>
              <a:rPr lang="en-US" sz="2600" dirty="0">
                <a:latin typeface="Aptos" panose="020B0004020202020204" pitchFamily="34" charset="0"/>
              </a:rPr>
              <a:t>Data Cleaning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09A0C-E54C-94C0-0AF7-CD0376D0E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9962" y="3148902"/>
            <a:ext cx="4161469" cy="1718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DCDCDC"/>
                </a:solidFill>
                <a:latin typeface="Aptos" panose="020B0004020202020204" pitchFamily="34" charset="0"/>
              </a:rPr>
              <a:t>Verified dataset structure and consistency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DCDCDC"/>
                </a:solidFill>
                <a:latin typeface="Aptos" panose="020B0004020202020204" pitchFamily="34" charset="0"/>
              </a:rPr>
              <a:t>Checked for missing or invalid values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DCDCDC"/>
                </a:solidFill>
                <a:latin typeface="Aptos" panose="020B0004020202020204" pitchFamily="34" charset="0"/>
              </a:rPr>
              <a:t>Validated column data formats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DCDCDC"/>
                </a:solidFill>
                <a:latin typeface="Aptos" panose="020B0004020202020204" pitchFamily="34" charset="0"/>
              </a:rPr>
              <a:t>Prepared dataset for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3079B3-A0FA-1BEB-EE78-D5D302FD81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85340" y="2462457"/>
            <a:ext cx="3794745" cy="479631"/>
          </a:xfrm>
        </p:spPr>
        <p:txBody>
          <a:bodyPr>
            <a:normAutofit/>
          </a:bodyPr>
          <a:lstStyle/>
          <a:p>
            <a:pPr algn="ctr"/>
            <a:r>
              <a:rPr lang="en-US" sz="2600" dirty="0">
                <a:latin typeface="Aptos" panose="020B0004020202020204" pitchFamily="34" charset="0"/>
              </a:rPr>
              <a:t>Feature Engineering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7F20-9314-2CE6-AC3C-4BE2B56ED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46640" y="3171148"/>
            <a:ext cx="4072143" cy="17180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DCDCDC"/>
                </a:solidFill>
                <a:latin typeface="Aptos" panose="020B0004020202020204" pitchFamily="34" charset="0"/>
              </a:rPr>
              <a:t>Extracted Year from Order Date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DCDCDC"/>
                </a:solidFill>
                <a:latin typeface="Aptos" panose="020B0004020202020204" pitchFamily="34" charset="0"/>
              </a:rPr>
              <a:t>Extracted Month from Order Date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DCDCDC"/>
                </a:solidFill>
                <a:latin typeface="Aptos" panose="020B0004020202020204" pitchFamily="34" charset="0"/>
              </a:rPr>
              <a:t>Generated Time Index for forecasting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DCDCDC"/>
                </a:solidFill>
                <a:latin typeface="Aptos" panose="020B0004020202020204" pitchFamily="34" charset="0"/>
              </a:rPr>
              <a:t>Prepared features for Linear Regression</a:t>
            </a:r>
          </a:p>
        </p:txBody>
      </p:sp>
    </p:spTree>
    <p:extLst>
      <p:ext uri="{BB962C8B-B14F-4D97-AF65-F5344CB8AC3E}">
        <p14:creationId xmlns:p14="http://schemas.microsoft.com/office/powerpoint/2010/main" val="959125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F6FA-050C-11C4-FFEA-DBFC5D0E8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Model Training &amp; Development</a:t>
            </a:r>
            <a:endParaRPr lang="en-US" sz="4000" dirty="0">
              <a:latin typeface="Aptos Display" panose="020B000402020202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9A5A64-88AC-798F-1CB9-D58AF321C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690688"/>
            <a:ext cx="5429865" cy="259617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200" b="1" dirty="0">
                <a:latin typeface="Aptos" panose="020B0004020202020204" pitchFamily="34" charset="0"/>
              </a:rPr>
              <a:t>Model Development Process</a:t>
            </a:r>
          </a:p>
          <a:p>
            <a:pPr marL="0" indent="0">
              <a:buNone/>
            </a:pPr>
            <a:endParaRPr lang="en-IN" sz="500" b="1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latin typeface="Aptos" panose="020B0004020202020204" pitchFamily="34" charset="0"/>
              </a:rPr>
              <a:t>Historical sales records were used as training data.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latin typeface="Aptos" panose="020B0004020202020204" pitchFamily="34" charset="0"/>
              </a:rPr>
              <a:t>Time Index represented the sequence of sales over time.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latin typeface="Aptos" panose="020B0004020202020204" pitchFamily="34" charset="0"/>
              </a:rPr>
              <a:t>Linear Regression identified underlying sales trends.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latin typeface="Aptos" panose="020B0004020202020204" pitchFamily="34" charset="0"/>
              </a:rPr>
              <a:t>The model learned patterns from historical observations.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IN" sz="1600" dirty="0">
                <a:latin typeface="Aptos" panose="020B0004020202020204" pitchFamily="34" charset="0"/>
              </a:rPr>
              <a:t>Forecasts were generated using the trained model.</a:t>
            </a:r>
            <a:endParaRPr lang="en-US" sz="2000" dirty="0"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D15F14-66A3-A54D-04C1-1586D97FC098}"/>
              </a:ext>
            </a:extLst>
          </p:cNvPr>
          <p:cNvSpPr/>
          <p:nvPr/>
        </p:nvSpPr>
        <p:spPr>
          <a:xfrm>
            <a:off x="1973081" y="2290093"/>
            <a:ext cx="234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" panose="020B0004020202020204" pitchFamily="34" charset="0"/>
              </a:rPr>
              <a:t>Historical Sales Data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B4D8A368-801A-750F-891D-06B686D7E6A3}"/>
              </a:ext>
            </a:extLst>
          </p:cNvPr>
          <p:cNvSpPr/>
          <p:nvPr/>
        </p:nvSpPr>
        <p:spPr>
          <a:xfrm>
            <a:off x="2909081" y="2930835"/>
            <a:ext cx="288000" cy="4680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19F9D63-7C70-3C5D-DBE8-C1DA12E6705C}"/>
              </a:ext>
            </a:extLst>
          </p:cNvPr>
          <p:cNvSpPr/>
          <p:nvPr/>
        </p:nvSpPr>
        <p:spPr>
          <a:xfrm>
            <a:off x="1973081" y="3419889"/>
            <a:ext cx="234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" panose="020B0004020202020204" pitchFamily="34" charset="0"/>
              </a:rPr>
              <a:t>Time Index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0A4CF8F-FA23-B789-3622-E2F665F287B5}"/>
              </a:ext>
            </a:extLst>
          </p:cNvPr>
          <p:cNvSpPr/>
          <p:nvPr/>
        </p:nvSpPr>
        <p:spPr>
          <a:xfrm>
            <a:off x="2909081" y="4059447"/>
            <a:ext cx="288000" cy="4680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0645174-0CD2-6E34-D8FD-F3C25308903A}"/>
              </a:ext>
            </a:extLst>
          </p:cNvPr>
          <p:cNvSpPr/>
          <p:nvPr/>
        </p:nvSpPr>
        <p:spPr>
          <a:xfrm>
            <a:off x="1973081" y="4558333"/>
            <a:ext cx="234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" panose="020B0004020202020204" pitchFamily="34" charset="0"/>
              </a:rPr>
              <a:t>Linear Regression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247D699D-FE84-2F25-7C3A-7C4CCAD5A294}"/>
              </a:ext>
            </a:extLst>
          </p:cNvPr>
          <p:cNvSpPr/>
          <p:nvPr/>
        </p:nvSpPr>
        <p:spPr>
          <a:xfrm>
            <a:off x="2909081" y="5197891"/>
            <a:ext cx="288000" cy="468000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38045A-1CC3-D72C-AEC6-6F96DF485150}"/>
              </a:ext>
            </a:extLst>
          </p:cNvPr>
          <p:cNvSpPr/>
          <p:nvPr/>
        </p:nvSpPr>
        <p:spPr>
          <a:xfrm>
            <a:off x="1973081" y="5688129"/>
            <a:ext cx="2340000" cy="612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" panose="020B0004020202020204" pitchFamily="34" charset="0"/>
              </a:rPr>
              <a:t>Trained Model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2F5DC-39C4-A992-0AB3-896BC96DA7B8}"/>
              </a:ext>
            </a:extLst>
          </p:cNvPr>
          <p:cNvSpPr txBox="1"/>
          <p:nvPr/>
        </p:nvSpPr>
        <p:spPr>
          <a:xfrm>
            <a:off x="1973081" y="1684682"/>
            <a:ext cx="251951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IN" sz="2200" b="1" dirty="0">
                <a:latin typeface="Aptos" panose="020B0004020202020204" pitchFamily="34" charset="0"/>
              </a:rPr>
              <a:t>Training Workflow</a:t>
            </a:r>
          </a:p>
        </p:txBody>
      </p:sp>
    </p:spTree>
    <p:extLst>
      <p:ext uri="{BB962C8B-B14F-4D97-AF65-F5344CB8AC3E}">
        <p14:creationId xmlns:p14="http://schemas.microsoft.com/office/powerpoint/2010/main" val="333405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7115-BD3F-12C8-9B67-7088564F8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Aptos Display" panose="020B0004020202020204" pitchFamily="34" charset="0"/>
              </a:rPr>
              <a:t>Model Evaluation &amp; Performance</a:t>
            </a:r>
            <a:endParaRPr lang="en-US" sz="4000" dirty="0">
              <a:latin typeface="Aptos Display" panose="020B00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F1463DD-C895-D3E4-20F7-501A9EC825BB}"/>
              </a:ext>
            </a:extLst>
          </p:cNvPr>
          <p:cNvSpPr/>
          <p:nvPr/>
        </p:nvSpPr>
        <p:spPr>
          <a:xfrm>
            <a:off x="1730477" y="2325545"/>
            <a:ext cx="2880000" cy="1440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Mean Absolute Error (MAE)</a:t>
            </a:r>
          </a:p>
          <a:p>
            <a:pPr algn="ctr"/>
            <a:endParaRPr lang="en-US" sz="1400" dirty="0">
              <a:latin typeface="Aptos Display" panose="020B0004020202020204" pitchFamily="34" charset="0"/>
            </a:endParaRPr>
          </a:p>
          <a:p>
            <a:pPr algn="ctr"/>
            <a:r>
              <a:rPr lang="en-US" sz="3600" b="1" i="1" dirty="0">
                <a:latin typeface="Aptos Display" panose="020B0004020202020204" pitchFamily="34" charset="0"/>
              </a:rPr>
              <a:t>32,200.46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8E708-2A6F-3F16-3888-541862599C3A}"/>
              </a:ext>
            </a:extLst>
          </p:cNvPr>
          <p:cNvSpPr txBox="1"/>
          <p:nvPr/>
        </p:nvSpPr>
        <p:spPr>
          <a:xfrm>
            <a:off x="1907031" y="1779643"/>
            <a:ext cx="2526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ptos" panose="020B0004020202020204" pitchFamily="34" charset="0"/>
              </a:rPr>
              <a:t>Average Forecasting Error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DC98E48-1796-0C03-D383-E881BA3D31BD}"/>
              </a:ext>
            </a:extLst>
          </p:cNvPr>
          <p:cNvSpPr/>
          <p:nvPr/>
        </p:nvSpPr>
        <p:spPr>
          <a:xfrm>
            <a:off x="7581525" y="2325545"/>
            <a:ext cx="2880000" cy="14400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Aptos Display" panose="020B0004020202020204" pitchFamily="34" charset="0"/>
              </a:rPr>
              <a:t>Mean Absolute % Error (MAPE)</a:t>
            </a:r>
          </a:p>
          <a:p>
            <a:pPr algn="ctr"/>
            <a:endParaRPr lang="en-US" sz="1600" dirty="0">
              <a:latin typeface="Aptos Display" panose="020B0004020202020204" pitchFamily="34" charset="0"/>
            </a:endParaRPr>
          </a:p>
          <a:p>
            <a:pPr algn="ctr"/>
            <a:r>
              <a:rPr lang="en-US" sz="3600" b="1" i="1" dirty="0">
                <a:latin typeface="Aptos Display" panose="020B0004020202020204" pitchFamily="34" charset="0"/>
              </a:rPr>
              <a:t>12.89%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E1461-B8F6-6C9A-EAA7-4E6D2EEF7AE8}"/>
              </a:ext>
            </a:extLst>
          </p:cNvPr>
          <p:cNvSpPr txBox="1"/>
          <p:nvPr/>
        </p:nvSpPr>
        <p:spPr>
          <a:xfrm>
            <a:off x="7669803" y="1779643"/>
            <a:ext cx="27034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Aptos" panose="020B0004020202020204" pitchFamily="34" charset="0"/>
              </a:rPr>
              <a:t>Forecast Accuracy Indicator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8977E4-3B34-C339-D1FC-63C066C53114}"/>
              </a:ext>
            </a:extLst>
          </p:cNvPr>
          <p:cNvSpPr txBox="1"/>
          <p:nvPr/>
        </p:nvSpPr>
        <p:spPr>
          <a:xfrm>
            <a:off x="4328438" y="4404364"/>
            <a:ext cx="387882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b="1" i="1" dirty="0">
                <a:latin typeface="Aptos Display" panose="020B0004020202020204" pitchFamily="34" charset="0"/>
              </a:rPr>
              <a:t>Performance Interpretation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9B3A4-EF44-6485-0695-0FA0DC235CA5}"/>
              </a:ext>
            </a:extLst>
          </p:cNvPr>
          <p:cNvSpPr txBox="1"/>
          <p:nvPr/>
        </p:nvSpPr>
        <p:spPr>
          <a:xfrm>
            <a:off x="3170476" y="4960074"/>
            <a:ext cx="6194750" cy="1688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</a:pPr>
            <a:r>
              <a:rPr lang="en-US" sz="1600" i="1" dirty="0">
                <a:latin typeface="Aptos" panose="020B0004020202020204" pitchFamily="34" charset="0"/>
              </a:rPr>
              <a:t>MAPE below 15% indicates good forecasting accuracy.</a:t>
            </a:r>
          </a:p>
          <a:p>
            <a:pPr algn="ctr">
              <a:lnSpc>
                <a:spcPct val="150000"/>
              </a:lnSpc>
              <a:spcAft>
                <a:spcPts val="400"/>
              </a:spcAft>
            </a:pPr>
            <a:r>
              <a:rPr lang="en-US" sz="1600" i="1" dirty="0">
                <a:latin typeface="Aptos" panose="020B0004020202020204" pitchFamily="34" charset="0"/>
              </a:rPr>
              <a:t>Forecasts closely followed historical sales trends.</a:t>
            </a:r>
          </a:p>
          <a:p>
            <a:pPr algn="ctr">
              <a:lnSpc>
                <a:spcPct val="150000"/>
              </a:lnSpc>
              <a:spcAft>
                <a:spcPts val="400"/>
              </a:spcAft>
            </a:pPr>
            <a:r>
              <a:rPr lang="en-US" sz="1600" i="1" dirty="0">
                <a:latin typeface="Aptos" panose="020B0004020202020204" pitchFamily="34" charset="0"/>
              </a:rPr>
              <a:t>The model successfully captured business growth patterns.</a:t>
            </a:r>
          </a:p>
          <a:p>
            <a:pPr algn="ctr">
              <a:lnSpc>
                <a:spcPct val="150000"/>
              </a:lnSpc>
              <a:spcAft>
                <a:spcPts val="400"/>
              </a:spcAft>
            </a:pPr>
            <a:r>
              <a:rPr lang="en-US" sz="1600" i="1" dirty="0">
                <a:latin typeface="Aptos" panose="020B0004020202020204" pitchFamily="34" charset="0"/>
              </a:rPr>
              <a:t>Suitable for demand forecasting and inventory planning.</a:t>
            </a:r>
          </a:p>
        </p:txBody>
      </p:sp>
    </p:spTree>
    <p:extLst>
      <p:ext uri="{BB962C8B-B14F-4D97-AF65-F5344CB8AC3E}">
        <p14:creationId xmlns:p14="http://schemas.microsoft.com/office/powerpoint/2010/main" val="4270569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D51B3-B6FB-089B-22A4-3AAEDF835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2597" y="445547"/>
            <a:ext cx="6446806" cy="715998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Business Recommendations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C619A0-DAE4-3A5A-6067-1FB7A92C02F6}"/>
              </a:ext>
            </a:extLst>
          </p:cNvPr>
          <p:cNvSpPr/>
          <p:nvPr/>
        </p:nvSpPr>
        <p:spPr>
          <a:xfrm>
            <a:off x="1229031" y="1566253"/>
            <a:ext cx="4320000" cy="21600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49A4F1-9D86-01E5-AFBC-55A5E0AE345F}"/>
              </a:ext>
            </a:extLst>
          </p:cNvPr>
          <p:cNvSpPr/>
          <p:nvPr/>
        </p:nvSpPr>
        <p:spPr>
          <a:xfrm>
            <a:off x="7002969" y="1566253"/>
            <a:ext cx="4320000" cy="21600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EF7FE95-DDE7-A547-B45D-32A14A4CE45F}"/>
              </a:ext>
            </a:extLst>
          </p:cNvPr>
          <p:cNvSpPr/>
          <p:nvPr/>
        </p:nvSpPr>
        <p:spPr>
          <a:xfrm>
            <a:off x="7002969" y="4151973"/>
            <a:ext cx="4320000" cy="21600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D8F2E4C-A1F1-30B5-BA4E-EE8CBFF5A245}"/>
              </a:ext>
            </a:extLst>
          </p:cNvPr>
          <p:cNvSpPr/>
          <p:nvPr/>
        </p:nvSpPr>
        <p:spPr>
          <a:xfrm>
            <a:off x="1229031" y="4151973"/>
            <a:ext cx="4320000" cy="2160000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1C324B-D83C-EFB9-851C-4969D10F44BA}"/>
              </a:ext>
            </a:extLst>
          </p:cNvPr>
          <p:cNvSpPr txBox="1"/>
          <p:nvPr/>
        </p:nvSpPr>
        <p:spPr>
          <a:xfrm>
            <a:off x="2091178" y="1646810"/>
            <a:ext cx="25957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ptos Display" panose="020B0004020202020204" pitchFamily="34" charset="0"/>
              </a:rPr>
              <a:t>📦 Inventory Planning</a:t>
            </a:r>
            <a:endParaRPr lang="en-US" sz="2000" b="1" dirty="0">
              <a:latin typeface="Aptos Display" panose="020B00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27996D-5A9C-0440-4D00-ACD19DAC81C1}"/>
              </a:ext>
            </a:extLst>
          </p:cNvPr>
          <p:cNvSpPr txBox="1"/>
          <p:nvPr/>
        </p:nvSpPr>
        <p:spPr>
          <a:xfrm>
            <a:off x="1511069" y="2221711"/>
            <a:ext cx="3755923" cy="1218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CDCDC"/>
                </a:solidFill>
                <a:latin typeface="Aptos" panose="020B0004020202020204" pitchFamily="34" charset="0"/>
              </a:rPr>
              <a:t>Maintain adequate stock levels during peak demand periods.</a:t>
            </a:r>
          </a:p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CDCDC"/>
                </a:solidFill>
                <a:latin typeface="Aptos" panose="020B0004020202020204" pitchFamily="34" charset="0"/>
              </a:rPr>
              <a:t>Use forecast trends to prevent stock shortages and overstocking.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2AE814-C6D4-E16D-EEEB-66D4EABF9F0F}"/>
              </a:ext>
            </a:extLst>
          </p:cNvPr>
          <p:cNvSpPr txBox="1"/>
          <p:nvPr/>
        </p:nvSpPr>
        <p:spPr>
          <a:xfrm>
            <a:off x="7746902" y="1646810"/>
            <a:ext cx="2832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ptos Display" panose="020B0004020202020204" pitchFamily="34" charset="0"/>
              </a:rPr>
              <a:t>📈 Demand Forecasting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0263CA-09E3-9536-F195-F90FC2A06127}"/>
              </a:ext>
            </a:extLst>
          </p:cNvPr>
          <p:cNvSpPr txBox="1"/>
          <p:nvPr/>
        </p:nvSpPr>
        <p:spPr>
          <a:xfrm>
            <a:off x="7285006" y="2211878"/>
            <a:ext cx="3755923" cy="1013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CDCDC"/>
                </a:solidFill>
                <a:latin typeface="Aptos" panose="020B0004020202020204" pitchFamily="34" charset="0"/>
              </a:rPr>
              <a:t>Monitor future sales trends regularly.</a:t>
            </a:r>
          </a:p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CDCDC"/>
                </a:solidFill>
                <a:latin typeface="Aptos" panose="020B0004020202020204" pitchFamily="34" charset="0"/>
              </a:rPr>
              <a:t>Update forecasts periodically for improved accuracy.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9A76E8-2D11-EC52-EAF2-F48B80F5D803}"/>
              </a:ext>
            </a:extLst>
          </p:cNvPr>
          <p:cNvSpPr txBox="1"/>
          <p:nvPr/>
        </p:nvSpPr>
        <p:spPr>
          <a:xfrm>
            <a:off x="1985670" y="4231441"/>
            <a:ext cx="28067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ptos Display" panose="020B0004020202020204" pitchFamily="34" charset="0"/>
              </a:rPr>
              <a:t>💰 Resource Allocation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09E780-FAE3-1198-4038-0A2A113D0873}"/>
              </a:ext>
            </a:extLst>
          </p:cNvPr>
          <p:cNvSpPr txBox="1"/>
          <p:nvPr/>
        </p:nvSpPr>
        <p:spPr>
          <a:xfrm>
            <a:off x="1511066" y="4862621"/>
            <a:ext cx="3755923" cy="1218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CDCDC"/>
                </a:solidFill>
                <a:latin typeface="Aptos" panose="020B0004020202020204" pitchFamily="34" charset="0"/>
              </a:rPr>
              <a:t>Allocate workforce and operational resources based on predicted demand.</a:t>
            </a:r>
          </a:p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CDCDC"/>
                </a:solidFill>
                <a:latin typeface="Aptos" panose="020B0004020202020204" pitchFamily="34" charset="0"/>
              </a:rPr>
              <a:t>Improve efficiency during high-sales periods.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895206-8C71-FEF6-0117-5FAA84C1E369}"/>
              </a:ext>
            </a:extLst>
          </p:cNvPr>
          <p:cNvSpPr txBox="1"/>
          <p:nvPr/>
        </p:nvSpPr>
        <p:spPr>
          <a:xfrm>
            <a:off x="7390536" y="4231441"/>
            <a:ext cx="3544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ptos Display" panose="020B0004020202020204" pitchFamily="34" charset="0"/>
              </a:rPr>
              <a:t>🎯 Strategic Decision Making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70170F4-B4F1-D473-0E10-B11E4B712C48}"/>
              </a:ext>
            </a:extLst>
          </p:cNvPr>
          <p:cNvSpPr txBox="1"/>
          <p:nvPr/>
        </p:nvSpPr>
        <p:spPr>
          <a:xfrm>
            <a:off x="7285006" y="4862621"/>
            <a:ext cx="3755923" cy="1218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CDCDC"/>
                </a:solidFill>
                <a:latin typeface="Aptos" panose="020B0004020202020204" pitchFamily="34" charset="0"/>
              </a:rPr>
              <a:t>Use forecast insights to support business planning.</a:t>
            </a:r>
          </a:p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rgbClr val="DCDCDC"/>
              </a:solidFill>
              <a:latin typeface="Aptos" panose="020B0004020202020204" pitchFamily="34" charset="0"/>
            </a:endParaRPr>
          </a:p>
          <a:p>
            <a:pPr marL="285750" indent="-285750">
              <a:lnSpc>
                <a:spcPct val="95000"/>
              </a:lnSpc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DCDCDC"/>
                </a:solidFill>
                <a:latin typeface="Aptos" panose="020B0004020202020204" pitchFamily="34" charset="0"/>
              </a:rPr>
              <a:t>Enable data-driven decision making across departments.</a:t>
            </a:r>
          </a:p>
        </p:txBody>
      </p:sp>
    </p:spTree>
    <p:extLst>
      <p:ext uri="{BB962C8B-B14F-4D97-AF65-F5344CB8AC3E}">
        <p14:creationId xmlns:p14="http://schemas.microsoft.com/office/powerpoint/2010/main" val="22943544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B97B2-47B5-3DAD-33E1-4E492C49B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8295" y="286473"/>
            <a:ext cx="8915400" cy="677094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ptos Display" panose="020B0004020202020204" pitchFamily="34" charset="0"/>
              </a:rPr>
              <a:t>Future Scope &amp; Enhancement Roadmap</a:t>
            </a:r>
            <a:endParaRPr lang="en-US" sz="3600" dirty="0">
              <a:latin typeface="Aptos Display" panose="020B0004020202020204" pitchFamily="34" charset="0"/>
            </a:endParaRPr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74B9AB86-FD1F-2753-F68B-AFC76CECA6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068641"/>
              </p:ext>
            </p:extLst>
          </p:nvPr>
        </p:nvGraphicFramePr>
        <p:xfrm>
          <a:off x="2028974" y="976465"/>
          <a:ext cx="8134043" cy="49050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ECA4241-05F9-04F8-423E-7D0B38511B1F}"/>
              </a:ext>
            </a:extLst>
          </p:cNvPr>
          <p:cNvSpPr txBox="1"/>
          <p:nvPr/>
        </p:nvSpPr>
        <p:spPr>
          <a:xfrm>
            <a:off x="1492656" y="6232979"/>
            <a:ext cx="92066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i="1" dirty="0">
                <a:solidFill>
                  <a:srgbClr val="DCDCDC"/>
                </a:solidFill>
                <a:latin typeface="Aptos" panose="020B0004020202020204" pitchFamily="34" charset="0"/>
              </a:rPr>
              <a:t>Future improvements can enhance forecasting accuracy, automation, and business decision-making.</a:t>
            </a:r>
            <a:endParaRPr lang="en-US" sz="1500" i="1" dirty="0">
              <a:solidFill>
                <a:srgbClr val="DCDCDC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4010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6293B-8CC6-742C-6B6C-230AC6542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8261" y="590286"/>
            <a:ext cx="3635477" cy="62685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latin typeface="Aptos Display" panose="020B0004020202020204" pitchFamily="34" charset="0"/>
              </a:rPr>
              <a:t>Project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650B6-DBC6-1FDC-BF90-C0D4709C85DA}"/>
              </a:ext>
            </a:extLst>
          </p:cNvPr>
          <p:cNvSpPr txBox="1"/>
          <p:nvPr/>
        </p:nvSpPr>
        <p:spPr>
          <a:xfrm>
            <a:off x="1464972" y="1669504"/>
            <a:ext cx="223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Project Objectives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9DB1E34-2839-F6FA-8898-6124E6EE3330}"/>
              </a:ext>
            </a:extLst>
          </p:cNvPr>
          <p:cNvCxnSpPr>
            <a:cxnSpLocks/>
          </p:cNvCxnSpPr>
          <p:nvPr/>
        </p:nvCxnSpPr>
        <p:spPr>
          <a:xfrm>
            <a:off x="1447803" y="2179287"/>
            <a:ext cx="223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A087C8-368E-7D1B-9C7C-B756FFBE64A0}"/>
              </a:ext>
            </a:extLst>
          </p:cNvPr>
          <p:cNvSpPr txBox="1"/>
          <p:nvPr/>
        </p:nvSpPr>
        <p:spPr>
          <a:xfrm>
            <a:off x="483033" y="2301501"/>
            <a:ext cx="419587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DCDCDC"/>
                </a:solidFill>
                <a:latin typeface="Aptos" panose="020B0004020202020204" pitchFamily="34" charset="0"/>
              </a:rPr>
              <a:t>Forecast future sales using </a:t>
            </a:r>
          </a:p>
          <a:p>
            <a:pPr algn="ctr"/>
            <a:r>
              <a:rPr lang="en-US" sz="1500" dirty="0">
                <a:solidFill>
                  <a:srgbClr val="DCDCDC"/>
                </a:solidFill>
                <a:latin typeface="Aptos" panose="020B0004020202020204" pitchFamily="34" charset="0"/>
              </a:rPr>
              <a:t>historical business data.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FC16BE-B77C-9A38-BE39-C4DAD5F9C116}"/>
              </a:ext>
            </a:extLst>
          </p:cNvPr>
          <p:cNvSpPr txBox="1"/>
          <p:nvPr/>
        </p:nvSpPr>
        <p:spPr>
          <a:xfrm>
            <a:off x="9179659" y="1680394"/>
            <a:ext cx="11577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Dataset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95D673-0F69-DA55-BA44-9D8926F9F5BC}"/>
              </a:ext>
            </a:extLst>
          </p:cNvPr>
          <p:cNvCxnSpPr>
            <a:cxnSpLocks/>
          </p:cNvCxnSpPr>
          <p:nvPr/>
        </p:nvCxnSpPr>
        <p:spPr>
          <a:xfrm>
            <a:off x="8642517" y="2179287"/>
            <a:ext cx="223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8FE999-472D-1601-9F9E-0C31AAB6E298}"/>
              </a:ext>
            </a:extLst>
          </p:cNvPr>
          <p:cNvSpPr txBox="1"/>
          <p:nvPr/>
        </p:nvSpPr>
        <p:spPr>
          <a:xfrm>
            <a:off x="8234199" y="2301501"/>
            <a:ext cx="30486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DCDCDC"/>
                </a:solidFill>
                <a:latin typeface="Aptos" panose="020B0004020202020204" pitchFamily="34" charset="0"/>
              </a:rPr>
              <a:t>Superstore Sales Dataset used for  trend analysis and forecasting.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129315-C3E9-535B-A38A-B7605BE3F466}"/>
              </a:ext>
            </a:extLst>
          </p:cNvPr>
          <p:cNvSpPr txBox="1"/>
          <p:nvPr/>
        </p:nvSpPr>
        <p:spPr>
          <a:xfrm>
            <a:off x="1477921" y="4035300"/>
            <a:ext cx="21630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/>
              <a:t>Model Used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14F59DB-A590-2FD6-9713-11D2CB8A803E}"/>
              </a:ext>
            </a:extLst>
          </p:cNvPr>
          <p:cNvCxnSpPr>
            <a:cxnSpLocks/>
          </p:cNvCxnSpPr>
          <p:nvPr/>
        </p:nvCxnSpPr>
        <p:spPr>
          <a:xfrm>
            <a:off x="1447803" y="4523899"/>
            <a:ext cx="223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94C188-662A-D721-43F6-C6A5EDF557E6}"/>
              </a:ext>
            </a:extLst>
          </p:cNvPr>
          <p:cNvSpPr txBox="1"/>
          <p:nvPr/>
        </p:nvSpPr>
        <p:spPr>
          <a:xfrm>
            <a:off x="461530" y="4634498"/>
            <a:ext cx="419587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500" dirty="0">
                <a:solidFill>
                  <a:srgbClr val="DCDCDC"/>
                </a:solidFill>
              </a:rPr>
              <a:t>Linear Regression implemented for sales forecasting and trend </a:t>
            </a:r>
            <a:r>
              <a:rPr lang="en-IN" sz="1500" dirty="0">
                <a:solidFill>
                  <a:srgbClr val="DCDCDC"/>
                </a:solidFill>
                <a:latin typeface="Aptos" panose="020B0004020202020204" pitchFamily="34" charset="0"/>
              </a:rPr>
              <a:t>prediction</a:t>
            </a:r>
            <a:r>
              <a:rPr lang="en-IN" sz="1500" dirty="0">
                <a:solidFill>
                  <a:srgbClr val="DCDCDC"/>
                </a:solidFill>
              </a:rPr>
              <a:t>.</a:t>
            </a:r>
            <a:endParaRPr lang="en-US" sz="1500" dirty="0">
              <a:solidFill>
                <a:srgbClr val="DCDCDC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63E59-19AC-8BD6-179E-79A0804FA416}"/>
              </a:ext>
            </a:extLst>
          </p:cNvPr>
          <p:cNvSpPr txBox="1"/>
          <p:nvPr/>
        </p:nvSpPr>
        <p:spPr>
          <a:xfrm>
            <a:off x="8802951" y="4035300"/>
            <a:ext cx="19111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ptos Display" panose="020B0004020202020204" pitchFamily="34" charset="0"/>
              </a:rPr>
              <a:t>Business Value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3990E7-39A8-AC93-7D97-EC1A7940AAA0}"/>
              </a:ext>
            </a:extLst>
          </p:cNvPr>
          <p:cNvCxnSpPr>
            <a:cxnSpLocks/>
          </p:cNvCxnSpPr>
          <p:nvPr/>
        </p:nvCxnSpPr>
        <p:spPr>
          <a:xfrm>
            <a:off x="8642517" y="4518190"/>
            <a:ext cx="2232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57CC91F-3A29-A3F3-342F-99DE599A87AE}"/>
              </a:ext>
            </a:extLst>
          </p:cNvPr>
          <p:cNvSpPr txBox="1"/>
          <p:nvPr/>
        </p:nvSpPr>
        <p:spPr>
          <a:xfrm>
            <a:off x="8337121" y="4634498"/>
            <a:ext cx="284278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dirty="0">
                <a:solidFill>
                  <a:srgbClr val="DCDCDC"/>
                </a:solidFill>
                <a:latin typeface="Aptos" panose="020B0004020202020204" pitchFamily="34" charset="0"/>
              </a:rPr>
              <a:t>Supports inventory planning and data-driven decision making.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14A5DE-A6FC-3A17-71F6-F6F6C8FD723D}"/>
              </a:ext>
            </a:extLst>
          </p:cNvPr>
          <p:cNvSpPr/>
          <p:nvPr/>
        </p:nvSpPr>
        <p:spPr>
          <a:xfrm>
            <a:off x="4835999" y="2897320"/>
            <a:ext cx="2520000" cy="1260000"/>
          </a:xfrm>
          <a:prstGeom prst="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Aptos Display" panose="020B0004020202020204" pitchFamily="34" charset="0"/>
              </a:rPr>
              <a:t>MAPE</a:t>
            </a:r>
          </a:p>
          <a:p>
            <a:pPr algn="ctr"/>
            <a:r>
              <a:rPr lang="en-US" sz="3200" b="1" i="1" dirty="0">
                <a:latin typeface="Aptos Display" panose="020B0004020202020204" pitchFamily="34" charset="0"/>
              </a:rPr>
              <a:t>12.89%</a:t>
            </a:r>
          </a:p>
        </p:txBody>
      </p:sp>
    </p:spTree>
    <p:extLst>
      <p:ext uri="{BB962C8B-B14F-4D97-AF65-F5344CB8AC3E}">
        <p14:creationId xmlns:p14="http://schemas.microsoft.com/office/powerpoint/2010/main" val="2011453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7CC1-7107-5A93-D244-4539F9F99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1277" y="2453047"/>
            <a:ext cx="3549445" cy="97595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5400" b="1" dirty="0">
                <a:latin typeface="Aptos Display" panose="020B0004020202020204" pitchFamily="34" charset="0"/>
              </a:rPr>
              <a:t>Thank You!</a:t>
            </a:r>
            <a:endParaRPr lang="en-US" b="1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2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700</TotalTime>
  <Words>955</Words>
  <Application>Microsoft Office PowerPoint</Application>
  <PresentationFormat>Widescreen</PresentationFormat>
  <Paragraphs>216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Calibri Light</vt:lpstr>
      <vt:lpstr>Wingdings</vt:lpstr>
      <vt:lpstr>Office Theme</vt:lpstr>
      <vt:lpstr>ML Based Demand Forecasting A Summer Internship Project Report</vt:lpstr>
      <vt:lpstr>Project Objectives</vt:lpstr>
      <vt:lpstr>Dataset Overview</vt:lpstr>
      <vt:lpstr>Yearly Sales Trend Analysis</vt:lpstr>
      <vt:lpstr>Monthly &amp; Quarterly Sales Analysis</vt:lpstr>
      <vt:lpstr>Volatility Analysis</vt:lpstr>
      <vt:lpstr>Forecasting Workflow</vt:lpstr>
      <vt:lpstr>PowerPoint Presentation</vt:lpstr>
      <vt:lpstr>Business Insights &amp; Interpretation</vt:lpstr>
      <vt:lpstr>Model Limitations and Future Improvements</vt:lpstr>
      <vt:lpstr>Tools &amp; Technologies Used</vt:lpstr>
      <vt:lpstr>Project Outcomes &amp; Learning Experience</vt:lpstr>
      <vt:lpstr>Data Preparation Pipeline</vt:lpstr>
      <vt:lpstr>Data Preparation Details</vt:lpstr>
      <vt:lpstr>Model Training &amp; Development</vt:lpstr>
      <vt:lpstr>Model Evaluation &amp; Performance</vt:lpstr>
      <vt:lpstr>Business Recommendations</vt:lpstr>
      <vt:lpstr>Future Scope &amp; Enhancement Roadmap</vt:lpstr>
      <vt:lpstr>Project Summary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M</dc:creator>
  <cp:lastModifiedBy>Neil M</cp:lastModifiedBy>
  <cp:revision>11</cp:revision>
  <dcterms:created xsi:type="dcterms:W3CDTF">2026-06-09T08:17:20Z</dcterms:created>
  <dcterms:modified xsi:type="dcterms:W3CDTF">2026-06-17T17:55:00Z</dcterms:modified>
</cp:coreProperties>
</file>